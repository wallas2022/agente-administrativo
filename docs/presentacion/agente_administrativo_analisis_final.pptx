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10"/>
    <p:sldId id="268" r:id="rId9"/>
  </p:sldIdLst>
  <p:notesMasterIdLst>
    <p:notesMasterId r:id="rId22"/>
  </p:notesMasterIdLst>
  <p:sldSz cx="12192000" cy="6858000"/>
  <p:notesSz cx="6858000" cy="12192000"/>
  <p:embeddedFontLst>
    <p:embeddedFont>
      <p:font typeface="Open Sans" pitchFamily="34" charset="0"/>
      <p:regular r:id="rId27"/>
      <p:bold r:id="rId28"/>
    </p:embeddedFont>
    <p:embeddedFont>
      <p:font typeface="Titillium Web" panose="00000500000000000000" pitchFamily="34"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Revisión de ortografía</c:v>
                </c:pt>
              </c:strCache>
            </c:strRef>
          </c:tx>
          <c:spPr>
            <a:solidFill>
              <a:srgbClr val="002A6D"/>
            </a:solidFill>
          </c:spPr>
          <c:cat>
            <c:strRef>
              <c:f>Sheet1!$A$2:$A$5</c:f>
              <c:strCache>
                <c:ptCount val="4"/>
                <c:pt idx="0">
                  <c:v>1 usuario</c:v>
                </c:pt>
                <c:pt idx="1">
                  <c:v>3 usuarios</c:v>
                </c:pt>
                <c:pt idx="2">
                  <c:v>5 usuarios</c:v>
                </c:pt>
                <c:pt idx="3">
                  <c:v>10 usuarios</c:v>
                </c:pt>
              </c:strCache>
            </c:strRef>
          </c:cat>
          <c:val>
            <c:numRef>
              <c:f>Sheet1!$B$2:$B$5</c:f>
              <c:numCache>
                <c:formatCode>General</c:formatCode>
                <c:ptCount val="4"/>
                <c:pt idx="0">
                  <c:v>3.5</c:v>
                </c:pt>
                <c:pt idx="1">
                  <c:v>3.5</c:v>
                </c:pt>
                <c:pt idx="2">
                  <c:v>3.8</c:v>
                </c:pt>
                <c:pt idx="3">
                  <c:v>8.0</c:v>
                </c:pt>
              </c:numCache>
            </c:numRef>
          </c:val>
        </c:ser>
        <c:dLbls>
          <c:numFmt formatCode="0.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1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2.0"/>
      </c:valAx>
    </c:plotArea>
    <c:dispBlanksAs val="gap"/>
  </c:chart>
  <c:txPr>
    <a:bodyPr/>
    <a:lstStyle/>
    <a:p>
      <a:pPr>
        <a:defRPr sz="1200">
          <a:solidFill>
            <a:srgbClr val="4A5568"/>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Excel contable con explicación de IA</c:v>
                </c:pt>
              </c:strCache>
            </c:strRef>
          </c:tx>
          <c:spPr>
            <a:solidFill>
              <a:srgbClr val="002A6D"/>
            </a:solidFill>
          </c:spPr>
          <c:cat>
            <c:strRef>
              <c:f>Sheet1!$A$2:$A$4</c:f>
              <c:strCache>
                <c:ptCount val="3"/>
                <c:pt idx="0">
                  <c:v>1 usuario</c:v>
                </c:pt>
                <c:pt idx="1">
                  <c:v>3 usuarios</c:v>
                </c:pt>
                <c:pt idx="2">
                  <c:v>5 usuarios</c:v>
                </c:pt>
              </c:strCache>
            </c:strRef>
          </c:cat>
          <c:val>
            <c:numRef>
              <c:f>Sheet1!$B$2:$B$4</c:f>
              <c:numCache>
                <c:formatCode>General</c:formatCode>
                <c:ptCount val="3"/>
                <c:pt idx="0">
                  <c:v>66.5</c:v>
                </c:pt>
                <c:pt idx="1">
                  <c:v>205.8</c:v>
                </c:pt>
                <c:pt idx="2">
                  <c:v>345.4</c:v>
                </c:pt>
              </c:numCache>
            </c:numRef>
          </c:val>
        </c:ser>
        <c:ser>
          <c:idx val="1"/>
          <c:order val="1"/>
          <c:tx>
            <c:strRef>
              <c:f>Sheet1!$C$1</c:f>
              <c:strCache>
                <c:ptCount val="1"/>
                <c:pt idx="0">
                  <c:v>Chat con las normas*</c:v>
                </c:pt>
              </c:strCache>
            </c:strRef>
          </c:tx>
          <c:spPr>
            <a:solidFill>
              <a:srgbClr val="FFCB27"/>
            </a:solidFill>
          </c:spPr>
          <c:cat>
            <c:strRef>
              <c:f>Sheet1!$A$2:$A$4</c:f>
              <c:strCache>
                <c:ptCount val="3"/>
                <c:pt idx="0">
                  <c:v>1 usuario</c:v>
                </c:pt>
                <c:pt idx="1">
                  <c:v>3 usuarios</c:v>
                </c:pt>
                <c:pt idx="2">
                  <c:v>5 usuarios</c:v>
                </c:pt>
              </c:strCache>
            </c:strRef>
          </c:cat>
          <c:val>
            <c:numRef>
              <c:f>Sheet1!$C$2:$C$4</c:f>
              <c:numCache>
                <c:formatCode>General</c:formatCode>
                <c:ptCount val="3"/>
                <c:pt idx="0">
                  <c:v>75.1</c:v>
                </c:pt>
                <c:pt idx="1">
                  <c:v>232.1</c:v>
                </c:pt>
                <c:pt idx="2">
                  <c:v>311.4</c:v>
                </c:pt>
              </c:numCache>
            </c:numRef>
          </c:val>
        </c:ser>
        <c:dLbls>
          <c:numFmt formatCode="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40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100.0"/>
      </c:valAx>
    </c:plotArea>
    <c:legend>
      <c:legendPos val="b"/>
      <c:overlay val="0"/>
    </c:legend>
    <c:dispBlanksAs val="gap"/>
  </c:chart>
  <c:txPr>
    <a:bodyPr/>
    <a:lstStyle/>
    <a:p>
      <a:pPr>
        <a:defRPr sz="1200">
          <a:solidFill>
            <a:srgbClr val="4A5568"/>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Espera medida</c:v>
                </c:pt>
              </c:strCache>
            </c:strRef>
          </c:tx>
          <c:spPr>
            <a:solidFill>
              <a:srgbClr val="002A6D"/>
            </a:solidFill>
          </c:spPr>
          <c:cat>
            <c:strRef>
              <c:f>Sheet1!$A$2:$A$3</c:f>
              <c:strCache>
                <c:ptCount val="2"/>
                <c:pt idx="0">
                  <c:v>3 usuarios</c:v>
                </c:pt>
                <c:pt idx="1">
                  <c:v>5 usuarios</c:v>
                </c:pt>
              </c:strCache>
            </c:strRef>
          </c:cat>
          <c:val>
            <c:numRef>
              <c:f>Sheet1!$B$2:$B$3</c:f>
              <c:numCache>
                <c:formatCode>General</c:formatCode>
                <c:ptCount val="2"/>
                <c:pt idx="0">
                  <c:v>435</c:v>
                </c:pt>
                <c:pt idx="1">
                  <c:v>582</c:v>
                </c:pt>
              </c:numCache>
            </c:numRef>
          </c:val>
        </c:ser>
        <c:ser>
          <c:idx val="1"/>
          <c:order val="1"/>
          <c:tx>
            <c:strRef>
              <c:f>Sheet1!$C$1</c:f>
              <c:strCache>
                <c:ptCount val="1"/>
                <c:pt idx="0">
                  <c:v>Máximo permitido</c:v>
                </c:pt>
              </c:strCache>
            </c:strRef>
          </c:tx>
          <c:spPr>
            <a:solidFill>
              <a:srgbClr val="C9CFDA"/>
            </a:solidFill>
          </c:spPr>
          <c:cat>
            <c:strRef>
              <c:f>Sheet1!$A$2:$A$3</c:f>
              <c:strCache>
                <c:ptCount val="2"/>
                <c:pt idx="0">
                  <c:v>3 usuarios</c:v>
                </c:pt>
                <c:pt idx="1">
                  <c:v>5 usuarios</c:v>
                </c:pt>
              </c:strCache>
            </c:strRef>
          </c:cat>
          <c:val>
            <c:numRef>
              <c:f>Sheet1!$C$2:$C$3</c:f>
              <c:numCache>
                <c:formatCode>General</c:formatCode>
                <c:ptCount val="2"/>
                <c:pt idx="0">
                  <c:v>600</c:v>
                </c:pt>
                <c:pt idx="1">
                  <c:v>600</c:v>
                </c:pt>
              </c:numCache>
            </c:numRef>
          </c:val>
        </c:ser>
        <c:dLbls>
          <c:numFmt formatCode="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70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100.0"/>
      </c:valAx>
    </c:plotArea>
    <c:legend>
      <c:legendPos val="b"/>
      <c:overlay val="0"/>
    </c:legend>
    <c:dispBlanksAs val="gap"/>
  </c:chart>
  <c:txPr>
    <a:bodyPr/>
    <a:lstStyle/>
    <a:p>
      <a:pPr>
        <a:defRPr sz="1200">
          <a:solidFill>
            <a:srgbClr val="4A5568"/>
          </a:solidFill>
          <a:latin typeface="Open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Excel por hora</c:v>
                </c:pt>
              </c:strCache>
            </c:strRef>
          </c:tx>
          <c:spPr>
            <a:solidFill>
              <a:srgbClr val="FFCB27"/>
            </a:solidFill>
          </c:spPr>
          <c:cat>
            <c:strRef>
              <c:f>Sheet1!$A$2:$A$4</c:f>
              <c:strCache>
                <c:ptCount val="3"/>
                <c:pt idx="0">
                  <c:v>1 usuario</c:v>
                </c:pt>
                <c:pt idx="1">
                  <c:v>3 usuarios</c:v>
                </c:pt>
                <c:pt idx="2">
                  <c:v>5 usuarios</c:v>
                </c:pt>
              </c:strCache>
            </c:strRef>
          </c:cat>
          <c:val>
            <c:numRef>
              <c:f>Sheet1!$B$2:$B$4</c:f>
              <c:numCache>
                <c:formatCode>General</c:formatCode>
                <c:ptCount val="3"/>
                <c:pt idx="0">
                  <c:v>54</c:v>
                </c:pt>
                <c:pt idx="1">
                  <c:v>53</c:v>
                </c:pt>
                <c:pt idx="2">
                  <c:v>52</c:v>
                </c:pt>
              </c:numCache>
            </c:numRef>
          </c:val>
        </c:ser>
        <c:dLbls>
          <c:numFmt formatCode="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8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20.0"/>
      </c:valAx>
    </c:plotArea>
    <c:dispBlanksAs val="gap"/>
  </c:chart>
  <c:txPr>
    <a:bodyPr/>
    <a:lstStyle/>
    <a:p>
      <a:pPr>
        <a:defRPr sz="1200">
          <a:solidFill>
            <a:srgbClr val="4A5568"/>
          </a:solidFill>
          <a:latin typeface="Open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Hoy (medido)</c:v>
                </c:pt>
              </c:strCache>
            </c:strRef>
          </c:tx>
          <c:spPr>
            <a:solidFill>
              <a:srgbClr val="002A6D"/>
            </a:solidFill>
          </c:spPr>
          <c:cat>
            <c:strRef>
              <c:f>Sheet1!$A$2:$A$3</c:f>
              <c:strCache>
                <c:ptCount val="2"/>
                <c:pt idx="0">
                  <c:v>Excel con IA</c:v>
                </c:pt>
                <c:pt idx="1">
                  <c:v>Tareas mezcladas</c:v>
                </c:pt>
              </c:strCache>
            </c:strRef>
          </c:cat>
          <c:val>
            <c:numRef>
              <c:f>Sheet1!$B$2:$B$3</c:f>
              <c:numCache>
                <c:formatCode>General</c:formatCode>
                <c:ptCount val="2"/>
                <c:pt idx="0">
                  <c:v>345</c:v>
                </c:pt>
                <c:pt idx="1">
                  <c:v>582</c:v>
                </c:pt>
              </c:numCache>
            </c:numRef>
          </c:val>
        </c:ser>
        <c:ser>
          <c:idx val="1"/>
          <c:order val="1"/>
          <c:tx>
            <c:strRef>
              <c:f>Sheet1!$C$1</c:f>
              <c:strCache>
                <c:ptCount val="1"/>
                <c:pt idx="0">
                  <c:v>Equipo 2× más rápido</c:v>
                </c:pt>
              </c:strCache>
            </c:strRef>
          </c:tx>
          <c:spPr>
            <a:solidFill>
              <a:srgbClr val="7FA3D9"/>
            </a:solidFill>
          </c:spPr>
          <c:cat>
            <c:strRef>
              <c:f>Sheet1!$A$2:$A$3</c:f>
              <c:strCache>
                <c:ptCount val="2"/>
                <c:pt idx="0">
                  <c:v>Excel con IA</c:v>
                </c:pt>
                <c:pt idx="1">
                  <c:v>Tareas mezcladas</c:v>
                </c:pt>
              </c:strCache>
            </c:strRef>
          </c:cat>
          <c:val>
            <c:numRef>
              <c:f>Sheet1!$C$2:$C$3</c:f>
              <c:numCache>
                <c:formatCode>General</c:formatCode>
                <c:ptCount val="2"/>
                <c:pt idx="0">
                  <c:v>173</c:v>
                </c:pt>
                <c:pt idx="1">
                  <c:v>291</c:v>
                </c:pt>
              </c:numCache>
            </c:numRef>
          </c:val>
        </c:ser>
        <c:ser>
          <c:idx val="2"/>
          <c:order val="2"/>
          <c:tx>
            <c:strRef>
              <c:f>Sheet1!$D$1</c:f>
              <c:strCache>
                <c:ptCount val="1"/>
                <c:pt idx="0">
                  <c:v>Equipo 10× más rápido</c:v>
                </c:pt>
              </c:strCache>
            </c:strRef>
          </c:tx>
          <c:spPr>
            <a:solidFill>
              <a:srgbClr val="FFCB27"/>
            </a:solidFill>
          </c:spPr>
          <c:cat>
            <c:strRef>
              <c:f>Sheet1!$A$2:$A$3</c:f>
              <c:strCache>
                <c:ptCount val="2"/>
                <c:pt idx="0">
                  <c:v>Excel con IA</c:v>
                </c:pt>
                <c:pt idx="1">
                  <c:v>Tareas mezcladas</c:v>
                </c:pt>
              </c:strCache>
            </c:strRef>
          </c:cat>
          <c:val>
            <c:numRef>
              <c:f>Sheet1!$D$2:$D$3</c:f>
              <c:numCache>
                <c:formatCode>General</c:formatCode>
                <c:ptCount val="2"/>
                <c:pt idx="0">
                  <c:v>35</c:v>
                </c:pt>
                <c:pt idx="1">
                  <c:v>58</c:v>
                </c:pt>
              </c:numCache>
            </c:numRef>
          </c:val>
        </c:ser>
        <c:dLbls>
          <c:numFmt formatCode="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70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100.0"/>
      </c:valAx>
    </c:plotArea>
    <c:legend>
      <c:legendPos val="b"/>
      <c:overlay val="0"/>
    </c:legend>
    <c:dispBlanksAs val="gap"/>
  </c:chart>
  <c:txPr>
    <a:bodyPr/>
    <a:lstStyle/>
    <a:p>
      <a:pPr>
        <a:defRPr sz="1200">
          <a:solidFill>
            <a:srgbClr val="4A5568"/>
          </a:solidFill>
          <a:latin typeface="Open San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Respuestas por hora</c:v>
                </c:pt>
              </c:strCache>
            </c:strRef>
          </c:tx>
          <c:spPr>
            <a:solidFill>
              <a:srgbClr val="002A6D"/>
            </a:solidFill>
          </c:spPr>
          <c:dPt>
            <c:idx val="0"/>
            <c:spPr>
              <a:solidFill>
                <a:srgbClr val="002A6D"/>
              </a:solidFill>
            </c:spPr>
          </c:dPt>
          <c:dPt>
            <c:idx val="1"/>
            <c:spPr>
              <a:solidFill>
                <a:srgbClr val="7FA3D9"/>
              </a:solidFill>
            </c:spPr>
          </c:dPt>
          <c:dPt>
            <c:idx val="2"/>
            <c:spPr>
              <a:solidFill>
                <a:srgbClr val="FFCB27"/>
              </a:solidFill>
            </c:spPr>
          </c:dPt>
          <c:cat>
            <c:strRef>
              <c:f>Sheet1!$A$2:$A$4</c:f>
              <c:strCache>
                <c:ptCount val="3"/>
                <c:pt idx="0">
                  <c:v>Hoy (medido)</c:v>
                </c:pt>
                <c:pt idx="1">
                  <c:v>2×</c:v>
                </c:pt>
                <c:pt idx="2">
                  <c:v>10×</c:v>
                </c:pt>
              </c:strCache>
            </c:strRef>
          </c:cat>
          <c:val>
            <c:numRef>
              <c:f>Sheet1!$B$2:$B$4</c:f>
              <c:numCache>
                <c:formatCode>General</c:formatCode>
                <c:ptCount val="3"/>
                <c:pt idx="0">
                  <c:v>50</c:v>
                </c:pt>
                <c:pt idx="1">
                  <c:v>100</c:v>
                </c:pt>
                <c:pt idx="2">
                  <c:v>500</c:v>
                </c:pt>
              </c:numCache>
            </c:numRef>
          </c:val>
        </c:ser>
        <c:dLbls>
          <c:numFmt formatCode="0" sourceLinked="0"/>
          <c:txPr>
            <a:bodyPr/>
            <a:lstStyle/>
            <a:p>
              <a:pPr>
                <a:defRPr sz="1100" b="1">
                  <a:solidFill>
                    <a:srgbClr val="0D1B3E"/>
                  </a:solidFill>
                  <a:latin typeface="Open Sans"/>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B0B8C6"/>
            </a:solidFill>
          </a:ln>
        </c:spPr>
        <c:crossAx val="-2113994440"/>
        <c:crosses val="autoZero"/>
        <c:auto val="1"/>
        <c:lblAlgn val="ctr"/>
        <c:lblOffset val="100"/>
        <c:noMultiLvlLbl val="0"/>
      </c:catAx>
      <c:valAx>
        <c:axId val="-2113994440"/>
        <c:scaling>
          <c:max val="600.0"/>
          <c:min val="0.0"/>
        </c:scaling>
        <c:delete val="0"/>
        <c:axPos val="l"/>
        <c:majorGridlines>
          <c:spPr>
            <a:ln>
              <a:solidFill>
                <a:srgbClr val="DDE3EE"/>
              </a:solidFill>
            </a:ln>
          </c:spPr>
        </c:majorGridlines>
        <c:majorTickMark val="out"/>
        <c:minorTickMark val="none"/>
        <c:tickLblPos val="nextTo"/>
        <c:spPr>
          <a:ln>
            <a:noFill/>
          </a:ln>
        </c:spPr>
        <c:crossAx val="-2068027336"/>
        <c:crosses val="autoZero"/>
        <c:majorUnit val="100.0"/>
      </c:valAx>
    </c:plotArea>
    <c:dispBlanksAs val="gap"/>
  </c:chart>
  <c:txPr>
    <a:bodyPr/>
    <a:lstStyle/>
    <a:p>
      <a:pPr>
        <a:defRPr sz="1200">
          <a:solidFill>
            <a:srgbClr val="4A5568"/>
          </a:solidFill>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lide-background-4-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Slide-background-5-image-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Slide-background-6-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D1B3E"/>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0D1B3E"/>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C8D6EE"/>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background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FFFFFF"/>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D1B3E"/>
                </a:solidFill>
                <a:latin typeface="Titillium Web" pitchFamily="34" charset="0"/>
                <a:ea typeface="Titillium Web" pitchFamily="34" charset="-122"/>
                <a:cs typeface="Titillium Web"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0D1B3E"/>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A45"/>
        </a:solidFill>
        <a:effectLst/>
      </p:bgPr>
    </p:bg>
    <p:spTree>
      <p:nvGrpSpPr>
        <p:cNvPr id="1" name=""/>
        <p:cNvGrpSpPr/>
        <p:nvPr/>
      </p:nvGrpSpPr>
      <p:grpSpPr/>
      <p:sp>
        <p:nvSpPr>
          <p:cNvPr id="2" name="Title 1"/>
          <p:cNvSpPr>
            <a:spLocks noGrp="1"/>
          </p:cNvSpPr>
          <p:nvPr>
            <p:ph type="title"/>
          </p:nvPr>
        </p:nvSpPr>
        <p:spPr>
          <a:xfrm>
            <a:off x="813816" y="2103120"/>
            <a:ext cx="10881360" cy="1097280"/>
          </a:xfrm>
        </p:spPr>
        <p:txBody>
          <a:bodyPr wrap="square"/>
          <a:lstStyle/>
          <a:p>
            <a:r>
              <a:rPr sz="5400" b="1">
                <a:solidFill>
                  <a:srgbClr val="FFFFFF"/>
                </a:solidFill>
                <a:latin typeface="Titillium Web"/>
              </a:rPr>
              <a:t>Agente Administrativo</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FFCB27"/>
                </a:solidFill>
                <a:latin typeface="Open Sans"/>
              </a:rPr>
              <a:t>INTELIGENCIA ARTIFICIAL · OCTUBRE 2026</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9DB3DA"/>
                </a:solidFill>
                <a:latin typeface="Open Sans"/>
              </a:rPr>
              <a:t>Servicios Compartidos</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9DB3DA"/>
                </a:solidFill>
                <a:latin typeface="Open Sans"/>
              </a:rPr>
              <a:t>1</a:t>
            </a:r>
          </a:p>
        </p:txBody>
      </p:sp>
      <p:sp>
        <p:nvSpPr>
          <p:cNvPr id="6" name="TextBox 5"/>
          <p:cNvSpPr txBox="1"/>
          <p:nvPr/>
        </p:nvSpPr>
        <p:spPr>
          <a:xfrm>
            <a:off x="813816" y="3383280"/>
            <a:ext cx="9601200" cy="1097280"/>
          </a:xfrm>
          <a:prstGeom prst="rect">
            <a:avLst/>
          </a:prstGeom>
          <a:noFill/>
        </p:spPr>
        <p:txBody>
          <a:bodyPr wrap="square" anchor="t" lIns="0" rIns="0" tIns="0" bIns="0">
            <a:spAutoFit/>
          </a:bodyPr>
          <a:lstStyle/>
          <a:p>
            <a:pPr algn="l"/>
            <a:r>
              <a:rPr sz="2400" b="0">
                <a:solidFill>
                  <a:srgbClr val="FFCB27"/>
                </a:solidFill>
                <a:latin typeface="Titillium Web"/>
              </a:rPr>
              <a:t>Análisis de la arquitectura actual, resultados de las pruebas de rendimiento y mejoras propuestas</a:t>
            </a:r>
          </a:p>
        </p:txBody>
      </p:sp>
      <p:sp>
        <p:nvSpPr>
          <p:cNvPr id="7" name="TextBox 6"/>
          <p:cNvSpPr txBox="1"/>
          <p:nvPr/>
        </p:nvSpPr>
        <p:spPr>
          <a:xfrm>
            <a:off x="813816" y="4846320"/>
            <a:ext cx="9601200" cy="548640"/>
          </a:xfrm>
          <a:prstGeom prst="rect">
            <a:avLst/>
          </a:prstGeom>
          <a:noFill/>
        </p:spPr>
        <p:txBody>
          <a:bodyPr wrap="square" anchor="t" lIns="0" rIns="0" tIns="0" bIns="0">
            <a:spAutoFit/>
          </a:bodyPr>
          <a:lstStyle/>
          <a:p>
            <a:pPr algn="l"/>
            <a:r>
              <a:rPr sz="1600" b="0">
                <a:solidFill>
                  <a:srgbClr val="DCE6F5"/>
                </a:solidFill>
                <a:latin typeface="Open Sans"/>
              </a:rPr>
              <a:t>Para gerencia de TI y directivos · Piloto en Contabilidad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El servidor actual no es adecuado para una versión de pruebas con usuarios reales</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RESUMEN EJECUTIVO</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Pruebas del 21 de octubre de 2026, con documentos de ejemplo y usuarios simultáneos.</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2</a:t>
            </a:r>
          </a:p>
        </p:txBody>
      </p:sp>
      <p:sp>
        <p:nvSpPr>
          <p:cNvPr id="6" name="Rounded Rectangle 5"/>
          <p:cNvSpPr/>
          <p:nvPr/>
        </p:nvSpPr>
        <p:spPr>
          <a:xfrm>
            <a:off x="813816" y="2240280"/>
            <a:ext cx="3429000" cy="3749039"/>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331720"/>
            <a:ext cx="3154680" cy="365760"/>
          </a:xfrm>
          <a:prstGeom prst="rect">
            <a:avLst/>
          </a:prstGeom>
          <a:noFill/>
        </p:spPr>
        <p:txBody>
          <a:bodyPr wrap="square" anchor="t" lIns="0" rIns="0" tIns="0" bIns="0">
            <a:spAutoFit/>
          </a:bodyPr>
          <a:lstStyle/>
          <a:p>
            <a:pPr algn="l"/>
            <a:r>
              <a:rPr sz="1400" b="1">
                <a:solidFill>
                  <a:srgbClr val="0D1B3E"/>
                </a:solidFill>
                <a:latin typeface="Titillium Web"/>
              </a:rPr>
              <a:t>Lo que funciona</a:t>
            </a:r>
          </a:p>
        </p:txBody>
      </p:sp>
      <p:sp>
        <p:nvSpPr>
          <p:cNvPr id="8" name="TextBox 7"/>
          <p:cNvSpPr txBox="1"/>
          <p:nvPr/>
        </p:nvSpPr>
        <p:spPr>
          <a:xfrm>
            <a:off x="950976" y="2607310"/>
            <a:ext cx="3154680" cy="3200399"/>
          </a:xfrm>
          <a:prstGeom prst="rect">
            <a:avLst/>
          </a:prstGeom>
          <a:noFill/>
        </p:spPr>
        <p:txBody>
          <a:bodyPr wrap="square" anchor="t" lIns="0" rIns="0" tIns="0" bIns="0">
            <a:spAutoFit/>
          </a:bodyPr>
          <a:lstStyle/>
          <a:p>
            <a:pPr algn="l"/>
            <a:r>
              <a:rPr sz="1600" b="0">
                <a:solidFill>
                  <a:srgbClr val="4A5568"/>
                </a:solidFill>
                <a:latin typeface="Open Sans"/>
              </a:rPr>
              <a:t>Revisión de ortografía: 10 usuarios a la vez, en menos de 10 segundos.</a:t>
            </a:r>
          </a:p>
          <a:p>
            <a:pPr algn="l">
              <a:spcBef>
                <a:spcPts val="300"/>
              </a:spcBef>
            </a:pPr>
            <a:r>
              <a:rPr sz="1600" b="0">
                <a:solidFill>
                  <a:srgbClr val="4A5568"/>
                </a:solidFill>
                <a:latin typeface="Open Sans"/>
              </a:rPr>
              <a:t>Las reglas contables muestran los errores del Excel en segundos.</a:t>
            </a:r>
          </a:p>
          <a:p>
            <a:pPr algn="l">
              <a:spcBef>
                <a:spcPts val="300"/>
              </a:spcBef>
            </a:pPr>
            <a:r>
              <a:rPr sz="1600" b="0">
                <a:solidFill>
                  <a:srgbClr val="4A5568"/>
                </a:solidFill>
                <a:latin typeface="Open Sans"/>
              </a:rPr>
              <a:t>Carga de documentos, permisos y bitácora operan sin fallas.</a:t>
            </a:r>
          </a:p>
        </p:txBody>
      </p:sp>
      <p:sp>
        <p:nvSpPr>
          <p:cNvPr id="9" name="Rounded Rectangle 8"/>
          <p:cNvSpPr/>
          <p:nvPr/>
        </p:nvSpPr>
        <p:spPr>
          <a:xfrm>
            <a:off x="4379976" y="2240280"/>
            <a:ext cx="3429000" cy="3749039"/>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2331720"/>
            <a:ext cx="3154680" cy="365760"/>
          </a:xfrm>
          <a:prstGeom prst="rect">
            <a:avLst/>
          </a:prstGeom>
          <a:noFill/>
        </p:spPr>
        <p:txBody>
          <a:bodyPr wrap="square" anchor="t" lIns="0" rIns="0" tIns="0" bIns="0">
            <a:spAutoFit/>
          </a:bodyPr>
          <a:lstStyle/>
          <a:p>
            <a:pPr algn="l"/>
            <a:r>
              <a:rPr sz="1400" b="1">
                <a:solidFill>
                  <a:srgbClr val="FFCB27"/>
                </a:solidFill>
                <a:latin typeface="Titillium Web"/>
              </a:rPr>
              <a:t>Lo que no alcanza</a:t>
            </a:r>
          </a:p>
        </p:txBody>
      </p:sp>
      <p:sp>
        <p:nvSpPr>
          <p:cNvPr id="11" name="TextBox 10"/>
          <p:cNvSpPr txBox="1"/>
          <p:nvPr/>
        </p:nvSpPr>
        <p:spPr>
          <a:xfrm>
            <a:off x="4517136" y="2607310"/>
            <a:ext cx="3154680" cy="3200399"/>
          </a:xfrm>
          <a:prstGeom prst="rect">
            <a:avLst/>
          </a:prstGeom>
          <a:noFill/>
        </p:spPr>
        <p:txBody>
          <a:bodyPr wrap="square" anchor="t" lIns="0" rIns="0" tIns="0" bIns="0">
            <a:spAutoFit/>
          </a:bodyPr>
          <a:lstStyle/>
          <a:p>
            <a:pPr algn="l"/>
            <a:r>
              <a:rPr sz="1600" b="0">
                <a:solidFill>
                  <a:srgbClr val="FFFFFF"/>
                </a:solidFill>
                <a:latin typeface="Open Sans"/>
              </a:rPr>
              <a:t>La explicación con IA y el chat tardan de 1 a casi 10 minutos con pocos usuarios.</a:t>
            </a:r>
          </a:p>
          <a:p>
            <a:pPr algn="l">
              <a:spcBef>
                <a:spcPts val="300"/>
              </a:spcBef>
            </a:pPr>
            <a:r>
              <a:rPr sz="1600" b="0">
                <a:solidFill>
                  <a:srgbClr val="FFFFFF"/>
                </a:solidFill>
                <a:latin typeface="Open Sans"/>
              </a:rPr>
              <a:t>La IA entrega unas 50 respuestas por hora en total, sin importar cuántos usuarios haya.</a:t>
            </a:r>
          </a:p>
          <a:p>
            <a:pPr algn="l">
              <a:spcBef>
                <a:spcPts val="300"/>
              </a:spcBef>
            </a:pPr>
            <a:r>
              <a:rPr sz="1600" b="0">
                <a:solidFill>
                  <a:srgbClr val="FFFFFF"/>
                </a:solidFill>
                <a:latin typeface="Open Sans"/>
              </a:rPr>
              <a:t>Con 5 usuarios mezclando tareas, la espera llegó a 9.7 minutos de un máximo de 10.</a:t>
            </a:r>
          </a:p>
        </p:txBody>
      </p:sp>
      <p:sp>
        <p:nvSpPr>
          <p:cNvPr id="12" name="Rounded Rectangle 11"/>
          <p:cNvSpPr/>
          <p:nvPr/>
        </p:nvSpPr>
        <p:spPr>
          <a:xfrm>
            <a:off x="7946136" y="2240280"/>
            <a:ext cx="3429000" cy="3749039"/>
          </a:xfrm>
          <a:prstGeom prst="roundRect">
            <a:avLst>
              <a:gd name="adj" fmla="val 6000"/>
            </a:avLst>
          </a:prstGeom>
          <a:solidFill>
            <a:srgbClr val="F5F7FB"/>
          </a:solidFill>
          <a:ln w="25400">
            <a:solidFill>
              <a:srgbClr val="FFCB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83296" y="2331720"/>
            <a:ext cx="3154680" cy="365760"/>
          </a:xfrm>
          <a:prstGeom prst="rect">
            <a:avLst/>
          </a:prstGeom>
          <a:noFill/>
        </p:spPr>
        <p:txBody>
          <a:bodyPr wrap="square" anchor="t" lIns="0" rIns="0" tIns="0" bIns="0">
            <a:spAutoFit/>
          </a:bodyPr>
          <a:lstStyle/>
          <a:p>
            <a:pPr algn="l"/>
            <a:r>
              <a:rPr sz="1400" b="1">
                <a:solidFill>
                  <a:srgbClr val="0D1B3E"/>
                </a:solidFill>
                <a:latin typeface="Titillium Web"/>
              </a:rPr>
              <a:t>Lo que proponemos</a:t>
            </a:r>
          </a:p>
        </p:txBody>
      </p:sp>
      <p:sp>
        <p:nvSpPr>
          <p:cNvPr id="14" name="TextBox 13"/>
          <p:cNvSpPr txBox="1"/>
          <p:nvPr/>
        </p:nvSpPr>
        <p:spPr>
          <a:xfrm>
            <a:off x="8083296" y="2607310"/>
            <a:ext cx="3154680" cy="3200399"/>
          </a:xfrm>
          <a:prstGeom prst="rect">
            <a:avLst/>
          </a:prstGeom>
          <a:noFill/>
        </p:spPr>
        <p:txBody>
          <a:bodyPr wrap="square" anchor="t" lIns="0" rIns="0" tIns="0" bIns="0">
            <a:spAutoFit/>
          </a:bodyPr>
          <a:lstStyle/>
          <a:p>
            <a:pPr algn="l"/>
            <a:r>
              <a:rPr sz="1600" b="0">
                <a:solidFill>
                  <a:srgbClr val="4A5568"/>
                </a:solidFill>
                <a:latin typeface="Open Sans"/>
              </a:rPr>
              <a:t>Un equipo con aceleración para la IA.</a:t>
            </a:r>
          </a:p>
          <a:p>
            <a:pPr algn="l">
              <a:spcBef>
                <a:spcPts val="300"/>
              </a:spcBef>
            </a:pPr>
            <a:r>
              <a:rPr sz="1600" b="0">
                <a:solidFill>
                  <a:srgbClr val="4A5568"/>
                </a:solidFill>
                <a:latin typeface="Open Sans"/>
              </a:rPr>
              <a:t>Dar prioridad al chat sobre los análisis largos.</a:t>
            </a:r>
          </a:p>
          <a:p>
            <a:pPr algn="l">
              <a:spcBef>
                <a:spcPts val="300"/>
              </a:spcBef>
            </a:pPr>
            <a:r>
              <a:rPr sz="1600" b="0">
                <a:solidFill>
                  <a:srgbClr val="4A5568"/>
                </a:solidFill>
                <a:latin typeface="Open Sans"/>
              </a:rPr>
              <a:t>Probar un modelo de IA más pequeño.</a:t>
            </a:r>
          </a:p>
          <a:p>
            <a:pPr algn="l">
              <a:spcBef>
                <a:spcPts val="300"/>
              </a:spcBef>
            </a:pPr>
            <a:r>
              <a:rPr sz="1600" b="0">
                <a:solidFill>
                  <a:srgbClr val="4A5568"/>
                </a:solidFill>
                <a:latin typeface="Open Sans"/>
              </a:rPr>
              <a:t>Medir en el equipo nuevo antes de comprar.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Todo corre dentro de nuestra red, en un solo servidor</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ARQUITECTURA ACTUAL</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Los datos no salen de la red interna. La IA es un modelo propio, no un servicio de internet.</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3</a:t>
            </a:r>
          </a:p>
        </p:txBody>
      </p:sp>
      <p:sp>
        <p:nvSpPr>
          <p:cNvPr id="6" name="Rounded Rectangle 5"/>
          <p:cNvSpPr/>
          <p:nvPr/>
        </p:nvSpPr>
        <p:spPr>
          <a:xfrm>
            <a:off x="813816" y="2194560"/>
            <a:ext cx="2148840" cy="118872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286000"/>
            <a:ext cx="1874520" cy="365760"/>
          </a:xfrm>
          <a:prstGeom prst="rect">
            <a:avLst/>
          </a:prstGeom>
          <a:noFill/>
        </p:spPr>
        <p:txBody>
          <a:bodyPr wrap="square" anchor="t" lIns="0" rIns="0" tIns="0" bIns="0">
            <a:spAutoFit/>
          </a:bodyPr>
          <a:lstStyle/>
          <a:p>
            <a:pPr algn="l"/>
            <a:r>
              <a:rPr sz="1500" b="1">
                <a:solidFill>
                  <a:srgbClr val="0D1B3E"/>
                </a:solidFill>
                <a:latin typeface="Titillium Web"/>
              </a:rPr>
              <a:t>Colaboradores</a:t>
            </a:r>
          </a:p>
        </p:txBody>
      </p:sp>
      <p:sp>
        <p:nvSpPr>
          <p:cNvPr id="8" name="TextBox 7"/>
          <p:cNvSpPr txBox="1"/>
          <p:nvPr/>
        </p:nvSpPr>
        <p:spPr>
          <a:xfrm>
            <a:off x="950976" y="2581275"/>
            <a:ext cx="1874520" cy="640080"/>
          </a:xfrm>
          <a:prstGeom prst="rect">
            <a:avLst/>
          </a:prstGeom>
          <a:noFill/>
        </p:spPr>
        <p:txBody>
          <a:bodyPr wrap="square" anchor="t" lIns="0" rIns="0" tIns="0" bIns="0">
            <a:spAutoFit/>
          </a:bodyPr>
          <a:lstStyle/>
          <a:p>
            <a:pPr algn="l"/>
            <a:r>
              <a:rPr sz="1200" b="0">
                <a:solidFill>
                  <a:srgbClr val="4A5568"/>
                </a:solidFill>
                <a:latin typeface="Open Sans"/>
              </a:rPr>
              <a:t>Navegador web, con usuario y rol</a:t>
            </a:r>
          </a:p>
        </p:txBody>
      </p:sp>
      <p:sp>
        <p:nvSpPr>
          <p:cNvPr id="9" name="Right Arrow 8"/>
          <p:cNvSpPr/>
          <p:nvPr/>
        </p:nvSpPr>
        <p:spPr>
          <a:xfrm>
            <a:off x="3017520" y="2606040"/>
            <a:ext cx="365760" cy="36576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38144" y="2194560"/>
            <a:ext cx="2377440" cy="1188720"/>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3" y="2286000"/>
            <a:ext cx="2103120" cy="365760"/>
          </a:xfrm>
          <a:prstGeom prst="rect">
            <a:avLst/>
          </a:prstGeom>
          <a:noFill/>
        </p:spPr>
        <p:txBody>
          <a:bodyPr wrap="square" anchor="t" lIns="0" rIns="0" tIns="0" bIns="0">
            <a:spAutoFit/>
          </a:bodyPr>
          <a:lstStyle/>
          <a:p>
            <a:pPr algn="l"/>
            <a:r>
              <a:rPr sz="1500" b="1">
                <a:solidFill>
                  <a:srgbClr val="FFCB27"/>
                </a:solidFill>
                <a:latin typeface="Titillium Web"/>
              </a:rPr>
              <a:t>Servicio central</a:t>
            </a:r>
          </a:p>
        </p:txBody>
      </p:sp>
      <p:sp>
        <p:nvSpPr>
          <p:cNvPr id="12" name="TextBox 11"/>
          <p:cNvSpPr txBox="1"/>
          <p:nvPr/>
        </p:nvSpPr>
        <p:spPr>
          <a:xfrm>
            <a:off x="3575303" y="2581275"/>
            <a:ext cx="2103120" cy="640080"/>
          </a:xfrm>
          <a:prstGeom prst="rect">
            <a:avLst/>
          </a:prstGeom>
          <a:noFill/>
        </p:spPr>
        <p:txBody>
          <a:bodyPr wrap="square" anchor="t" lIns="0" rIns="0" tIns="0" bIns="0">
            <a:spAutoFit/>
          </a:bodyPr>
          <a:lstStyle/>
          <a:p>
            <a:pPr algn="l"/>
            <a:r>
              <a:rPr sz="1200" b="0">
                <a:solidFill>
                  <a:srgbClr val="FFFFFF"/>
                </a:solidFill>
                <a:latin typeface="Open Sans"/>
              </a:rPr>
              <a:t>Permisos, registro de actividad y coordinación</a:t>
            </a:r>
          </a:p>
        </p:txBody>
      </p:sp>
      <p:sp>
        <p:nvSpPr>
          <p:cNvPr id="13" name="Right Arrow 12"/>
          <p:cNvSpPr/>
          <p:nvPr/>
        </p:nvSpPr>
        <p:spPr>
          <a:xfrm>
            <a:off x="5870448" y="2606040"/>
            <a:ext cx="365760" cy="36576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2194560"/>
            <a:ext cx="1920240" cy="118872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2286000"/>
            <a:ext cx="1645920" cy="365760"/>
          </a:xfrm>
          <a:prstGeom prst="rect">
            <a:avLst/>
          </a:prstGeom>
          <a:noFill/>
        </p:spPr>
        <p:txBody>
          <a:bodyPr wrap="square" anchor="t" lIns="0" rIns="0" tIns="0" bIns="0">
            <a:spAutoFit/>
          </a:bodyPr>
          <a:lstStyle/>
          <a:p>
            <a:pPr algn="l"/>
            <a:r>
              <a:rPr sz="1500" b="1">
                <a:solidFill>
                  <a:srgbClr val="0D1B3E"/>
                </a:solidFill>
                <a:latin typeface="Titillium Web"/>
              </a:rPr>
              <a:t>Cola de trabajos</a:t>
            </a:r>
          </a:p>
        </p:txBody>
      </p:sp>
      <p:sp>
        <p:nvSpPr>
          <p:cNvPr id="16" name="TextBox 15"/>
          <p:cNvSpPr txBox="1"/>
          <p:nvPr/>
        </p:nvSpPr>
        <p:spPr>
          <a:xfrm>
            <a:off x="6428232" y="2581275"/>
            <a:ext cx="1645920" cy="640080"/>
          </a:xfrm>
          <a:prstGeom prst="rect">
            <a:avLst/>
          </a:prstGeom>
          <a:noFill/>
        </p:spPr>
        <p:txBody>
          <a:bodyPr wrap="square" anchor="t" lIns="0" rIns="0" tIns="0" bIns="0">
            <a:spAutoFit/>
          </a:bodyPr>
          <a:lstStyle/>
          <a:p>
            <a:pPr algn="l"/>
            <a:r>
              <a:rPr sz="1200" b="0">
                <a:solidFill>
                  <a:srgbClr val="4A5568"/>
                </a:solidFill>
                <a:latin typeface="Open Sans"/>
              </a:rPr>
              <a:t>Atiende los documentos en fila</a:t>
            </a:r>
          </a:p>
        </p:txBody>
      </p:sp>
      <p:sp>
        <p:nvSpPr>
          <p:cNvPr id="17" name="Right Arrow 16"/>
          <p:cNvSpPr/>
          <p:nvPr/>
        </p:nvSpPr>
        <p:spPr>
          <a:xfrm>
            <a:off x="8266175" y="2606040"/>
            <a:ext cx="365760" cy="36576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0" y="2194560"/>
            <a:ext cx="2688336" cy="118872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2286000"/>
            <a:ext cx="2414016" cy="365760"/>
          </a:xfrm>
          <a:prstGeom prst="rect">
            <a:avLst/>
          </a:prstGeom>
          <a:noFill/>
        </p:spPr>
        <p:txBody>
          <a:bodyPr wrap="square" anchor="t" lIns="0" rIns="0" tIns="0" bIns="0">
            <a:spAutoFit/>
          </a:bodyPr>
          <a:lstStyle/>
          <a:p>
            <a:pPr algn="l"/>
            <a:r>
              <a:rPr sz="1500" b="1">
                <a:solidFill>
                  <a:srgbClr val="0D1B3E"/>
                </a:solidFill>
                <a:latin typeface="Titillium Web"/>
              </a:rPr>
              <a:t>Procesadores especializados</a:t>
            </a:r>
          </a:p>
        </p:txBody>
      </p:sp>
      <p:sp>
        <p:nvSpPr>
          <p:cNvPr id="20" name="TextBox 19"/>
          <p:cNvSpPr txBox="1"/>
          <p:nvPr/>
        </p:nvSpPr>
        <p:spPr>
          <a:xfrm>
            <a:off x="8823960" y="2581275"/>
            <a:ext cx="2414016" cy="640080"/>
          </a:xfrm>
          <a:prstGeom prst="rect">
            <a:avLst/>
          </a:prstGeom>
          <a:noFill/>
        </p:spPr>
        <p:txBody>
          <a:bodyPr wrap="square" anchor="t" lIns="0" rIns="0" tIns="0" bIns="0">
            <a:spAutoFit/>
          </a:bodyPr>
          <a:lstStyle/>
          <a:p>
            <a:pPr algn="l"/>
            <a:r>
              <a:rPr sz="1200" b="0">
                <a:solidFill>
                  <a:srgbClr val="4A5568"/>
                </a:solidFill>
                <a:latin typeface="Open Sans"/>
              </a:rPr>
              <a:t>Reglas contables, ortografía y lectura de imágenes</a:t>
            </a:r>
          </a:p>
        </p:txBody>
      </p:sp>
      <p:sp>
        <p:nvSpPr>
          <p:cNvPr id="21" name="Down Arrow 20"/>
          <p:cNvSpPr/>
          <p:nvPr/>
        </p:nvSpPr>
        <p:spPr>
          <a:xfrm>
            <a:off x="4572000" y="3438144"/>
            <a:ext cx="320040" cy="365760"/>
          </a:xfrm>
          <a:prstGeom prst="down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9875520" y="3438144"/>
            <a:ext cx="320040" cy="365760"/>
          </a:xfrm>
          <a:prstGeom prst="down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3816" y="3858768"/>
            <a:ext cx="2148840" cy="10972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3950207"/>
            <a:ext cx="1874520" cy="365760"/>
          </a:xfrm>
          <a:prstGeom prst="rect">
            <a:avLst/>
          </a:prstGeom>
          <a:noFill/>
        </p:spPr>
        <p:txBody>
          <a:bodyPr wrap="square" anchor="t" lIns="0" rIns="0" tIns="0" bIns="0">
            <a:spAutoFit/>
          </a:bodyPr>
          <a:lstStyle/>
          <a:p>
            <a:pPr algn="l"/>
            <a:r>
              <a:rPr sz="1400" b="1">
                <a:solidFill>
                  <a:srgbClr val="0D1B3E"/>
                </a:solidFill>
                <a:latin typeface="Titillium Web"/>
              </a:rPr>
              <a:t>Base de datos</a:t>
            </a:r>
          </a:p>
        </p:txBody>
      </p:sp>
      <p:sp>
        <p:nvSpPr>
          <p:cNvPr id="25" name="TextBox 24"/>
          <p:cNvSpPr txBox="1"/>
          <p:nvPr/>
        </p:nvSpPr>
        <p:spPr>
          <a:xfrm>
            <a:off x="950976" y="4225797"/>
            <a:ext cx="1874520" cy="548640"/>
          </a:xfrm>
          <a:prstGeom prst="rect">
            <a:avLst/>
          </a:prstGeom>
          <a:noFill/>
        </p:spPr>
        <p:txBody>
          <a:bodyPr wrap="square" anchor="t" lIns="0" rIns="0" tIns="0" bIns="0">
            <a:spAutoFit/>
          </a:bodyPr>
          <a:lstStyle/>
          <a:p>
            <a:pPr algn="l"/>
            <a:r>
              <a:rPr sz="1200" b="0">
                <a:solidFill>
                  <a:srgbClr val="4A5568"/>
                </a:solidFill>
                <a:latin typeface="Open Sans"/>
              </a:rPr>
              <a:t>Usuarios, análisis y resultados</a:t>
            </a:r>
          </a:p>
        </p:txBody>
      </p:sp>
      <p:sp>
        <p:nvSpPr>
          <p:cNvPr id="26" name="Rounded Rectangle 25"/>
          <p:cNvSpPr/>
          <p:nvPr/>
        </p:nvSpPr>
        <p:spPr>
          <a:xfrm>
            <a:off x="3108960" y="3858768"/>
            <a:ext cx="2148840" cy="10972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46120" y="3950207"/>
            <a:ext cx="1874520" cy="365760"/>
          </a:xfrm>
          <a:prstGeom prst="rect">
            <a:avLst/>
          </a:prstGeom>
          <a:noFill/>
        </p:spPr>
        <p:txBody>
          <a:bodyPr wrap="square" anchor="t" lIns="0" rIns="0" tIns="0" bIns="0">
            <a:spAutoFit/>
          </a:bodyPr>
          <a:lstStyle/>
          <a:p>
            <a:pPr algn="l"/>
            <a:r>
              <a:rPr sz="1400" b="1">
                <a:solidFill>
                  <a:srgbClr val="0D1B3E"/>
                </a:solidFill>
                <a:latin typeface="Titillium Web"/>
              </a:rPr>
              <a:t>Biblioteca de normas</a:t>
            </a:r>
          </a:p>
        </p:txBody>
      </p:sp>
      <p:sp>
        <p:nvSpPr>
          <p:cNvPr id="28" name="TextBox 27"/>
          <p:cNvSpPr txBox="1"/>
          <p:nvPr/>
        </p:nvSpPr>
        <p:spPr>
          <a:xfrm>
            <a:off x="3246120" y="4225797"/>
            <a:ext cx="1874520" cy="548640"/>
          </a:xfrm>
          <a:prstGeom prst="rect">
            <a:avLst/>
          </a:prstGeom>
          <a:noFill/>
        </p:spPr>
        <p:txBody>
          <a:bodyPr wrap="square" anchor="t" lIns="0" rIns="0" tIns="0" bIns="0">
            <a:spAutoFit/>
          </a:bodyPr>
          <a:lstStyle/>
          <a:p>
            <a:pPr algn="l"/>
            <a:r>
              <a:rPr sz="1200" b="0">
                <a:solidFill>
                  <a:srgbClr val="4A5568"/>
                </a:solidFill>
                <a:latin typeface="Open Sans"/>
              </a:rPr>
              <a:t>Políticas aprobadas, con búsqueda</a:t>
            </a:r>
          </a:p>
        </p:txBody>
      </p:sp>
      <p:sp>
        <p:nvSpPr>
          <p:cNvPr id="29" name="Rounded Rectangle 28"/>
          <p:cNvSpPr/>
          <p:nvPr/>
        </p:nvSpPr>
        <p:spPr>
          <a:xfrm>
            <a:off x="5404104" y="3858768"/>
            <a:ext cx="2148840" cy="10972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41264" y="3950207"/>
            <a:ext cx="1874520" cy="365760"/>
          </a:xfrm>
          <a:prstGeom prst="rect">
            <a:avLst/>
          </a:prstGeom>
          <a:noFill/>
        </p:spPr>
        <p:txBody>
          <a:bodyPr wrap="square" anchor="t" lIns="0" rIns="0" tIns="0" bIns="0">
            <a:spAutoFit/>
          </a:bodyPr>
          <a:lstStyle/>
          <a:p>
            <a:pPr algn="l"/>
            <a:r>
              <a:rPr sz="1400" b="1">
                <a:solidFill>
                  <a:srgbClr val="0D1B3E"/>
                </a:solidFill>
                <a:latin typeface="Titillium Web"/>
              </a:rPr>
              <a:t>Archivos</a:t>
            </a:r>
          </a:p>
        </p:txBody>
      </p:sp>
      <p:sp>
        <p:nvSpPr>
          <p:cNvPr id="31" name="TextBox 30"/>
          <p:cNvSpPr txBox="1"/>
          <p:nvPr/>
        </p:nvSpPr>
        <p:spPr>
          <a:xfrm>
            <a:off x="5541264" y="4225797"/>
            <a:ext cx="1874520" cy="548640"/>
          </a:xfrm>
          <a:prstGeom prst="rect">
            <a:avLst/>
          </a:prstGeom>
          <a:noFill/>
        </p:spPr>
        <p:txBody>
          <a:bodyPr wrap="square" anchor="t" lIns="0" rIns="0" tIns="0" bIns="0">
            <a:spAutoFit/>
          </a:bodyPr>
          <a:lstStyle/>
          <a:p>
            <a:pPr algn="l"/>
            <a:r>
              <a:rPr sz="1200" b="0">
                <a:solidFill>
                  <a:srgbClr val="4A5568"/>
                </a:solidFill>
                <a:latin typeface="Open Sans"/>
              </a:rPr>
              <a:t>Documentos cargados y versiones corregidas</a:t>
            </a:r>
          </a:p>
        </p:txBody>
      </p:sp>
      <p:sp>
        <p:nvSpPr>
          <p:cNvPr id="32" name="Rounded Rectangle 31"/>
          <p:cNvSpPr/>
          <p:nvPr/>
        </p:nvSpPr>
        <p:spPr>
          <a:xfrm>
            <a:off x="7882127" y="3858768"/>
            <a:ext cx="3493008" cy="1097280"/>
          </a:xfrm>
          <a:prstGeom prst="roundRect">
            <a:avLst>
              <a:gd name="adj" fmla="val 6000"/>
            </a:avLst>
          </a:prstGeom>
          <a:solidFill>
            <a:srgbClr val="0D1B3E"/>
          </a:solidFill>
          <a:ln w="25400">
            <a:solidFill>
              <a:srgbClr val="FFCB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19288" y="3950207"/>
            <a:ext cx="3218688" cy="365760"/>
          </a:xfrm>
          <a:prstGeom prst="rect">
            <a:avLst/>
          </a:prstGeom>
          <a:noFill/>
        </p:spPr>
        <p:txBody>
          <a:bodyPr wrap="square" anchor="t" lIns="0" rIns="0" tIns="0" bIns="0">
            <a:spAutoFit/>
          </a:bodyPr>
          <a:lstStyle/>
          <a:p>
            <a:pPr algn="l"/>
            <a:r>
              <a:rPr sz="1400" b="1">
                <a:solidFill>
                  <a:srgbClr val="FFCB27"/>
                </a:solidFill>
                <a:latin typeface="Titillium Web"/>
              </a:rPr>
              <a:t>Motor de IA (modelo propio)</a:t>
            </a:r>
          </a:p>
        </p:txBody>
      </p:sp>
      <p:sp>
        <p:nvSpPr>
          <p:cNvPr id="34" name="TextBox 33"/>
          <p:cNvSpPr txBox="1"/>
          <p:nvPr/>
        </p:nvSpPr>
        <p:spPr>
          <a:xfrm>
            <a:off x="8019288" y="4225797"/>
            <a:ext cx="3218688" cy="548640"/>
          </a:xfrm>
          <a:prstGeom prst="rect">
            <a:avLst/>
          </a:prstGeom>
          <a:noFill/>
        </p:spPr>
        <p:txBody>
          <a:bodyPr wrap="square" anchor="t" lIns="0" rIns="0" tIns="0" bIns="0">
            <a:spAutoFit/>
          </a:bodyPr>
          <a:lstStyle/>
          <a:p>
            <a:pPr algn="l"/>
            <a:r>
              <a:rPr sz="1200" b="0">
                <a:solidFill>
                  <a:srgbClr val="FFFFFF"/>
                </a:solidFill>
                <a:latin typeface="Open Sans"/>
              </a:rPr>
              <a:t>Explica hallazgos y responde el chat. Un solo motor, sin aceleración.</a:t>
            </a:r>
          </a:p>
        </p:txBody>
      </p:sp>
      <p:sp>
        <p:nvSpPr>
          <p:cNvPr id="35" name="Rounded Rectangle 34"/>
          <p:cNvSpPr/>
          <p:nvPr/>
        </p:nvSpPr>
        <p:spPr>
          <a:xfrm>
            <a:off x="813816" y="5120640"/>
            <a:ext cx="10561320" cy="566928"/>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120640"/>
            <a:ext cx="10149840" cy="566928"/>
          </a:xfrm>
          <a:prstGeom prst="rect">
            <a:avLst/>
          </a:prstGeom>
          <a:noFill/>
        </p:spPr>
        <p:txBody>
          <a:bodyPr wrap="square" anchor="ctr" lIns="0" rIns="0" tIns="0" bIns="0">
            <a:spAutoFit/>
          </a:bodyPr>
          <a:lstStyle/>
          <a:p>
            <a:pPr algn="l"/>
            <a:r>
              <a:rPr sz="1300" b="1">
                <a:solidFill>
                  <a:srgbClr val="0D1B3E"/>
                </a:solidFill>
                <a:latin typeface="Open Sans"/>
              </a:rPr>
              <a:t>Vigilancia: tablero de consumo y recursos, bitácora de actividad y respaldos</a:t>
            </a:r>
          </a:p>
        </p:txBody>
      </p:sp>
      <p:sp>
        <p:nvSpPr>
          <p:cNvPr id="37" name="TextBox 36"/>
          <p:cNvSpPr txBox="1"/>
          <p:nvPr/>
        </p:nvSpPr>
        <p:spPr>
          <a:xfrm>
            <a:off x="813816" y="5806440"/>
            <a:ext cx="10515600" cy="274320"/>
          </a:xfrm>
          <a:prstGeom prst="rect">
            <a:avLst/>
          </a:prstGeom>
          <a:noFill/>
        </p:spPr>
        <p:txBody>
          <a:bodyPr wrap="square" anchor="t" lIns="0" rIns="0" tIns="0" bIns="0">
            <a:spAutoFit/>
          </a:bodyPr>
          <a:lstStyle/>
          <a:p>
            <a:pPr algn="l"/>
            <a:r>
              <a:rPr sz="1300" b="1">
                <a:solidFill>
                  <a:srgbClr val="365899"/>
                </a:solidFill>
                <a:latin typeface="Open Sans"/>
              </a:rPr>
              <a:t>El motor de IA es el único componente que limita la capacidad: lo veremos en las pruebas.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Un equipo reutilizado, sin aceleración para inteligencia artificial</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EL SERVIDOR ACTUAL</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Velocidad medida de la IA en el servidor actual, octubre de 2026.</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4</a:t>
            </a:r>
          </a:p>
        </p:txBody>
      </p:sp>
      <p:sp>
        <p:nvSpPr>
          <p:cNvPr id="6" name="Rounded Rectangle 5"/>
          <p:cNvSpPr/>
          <p:nvPr/>
        </p:nvSpPr>
        <p:spPr>
          <a:xfrm>
            <a:off x="813816" y="2240280"/>
            <a:ext cx="5394960" cy="3749039"/>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331720"/>
            <a:ext cx="5120640" cy="365760"/>
          </a:xfrm>
          <a:prstGeom prst="rect">
            <a:avLst/>
          </a:prstGeom>
          <a:noFill/>
        </p:spPr>
        <p:txBody>
          <a:bodyPr wrap="square" anchor="t" lIns="0" rIns="0" tIns="0" bIns="0">
            <a:spAutoFit/>
          </a:bodyPr>
          <a:lstStyle/>
          <a:p>
            <a:pPr algn="l"/>
            <a:r>
              <a:rPr sz="1400" b="1">
                <a:solidFill>
                  <a:srgbClr val="0D1B3E"/>
                </a:solidFill>
                <a:latin typeface="Titillium Web"/>
              </a:rPr>
              <a:t>Qué tenemos hoy</a:t>
            </a:r>
          </a:p>
        </p:txBody>
      </p:sp>
      <p:sp>
        <p:nvSpPr>
          <p:cNvPr id="8" name="TextBox 7"/>
          <p:cNvSpPr txBox="1"/>
          <p:nvPr/>
        </p:nvSpPr>
        <p:spPr>
          <a:xfrm>
            <a:off x="950976" y="2607310"/>
            <a:ext cx="5120640" cy="3200399"/>
          </a:xfrm>
          <a:prstGeom prst="rect">
            <a:avLst/>
          </a:prstGeom>
          <a:noFill/>
        </p:spPr>
        <p:txBody>
          <a:bodyPr wrap="square" anchor="t" lIns="0" rIns="0" tIns="0" bIns="0">
            <a:spAutoFit/>
          </a:bodyPr>
          <a:lstStyle/>
          <a:p>
            <a:pPr algn="l"/>
            <a:r>
              <a:rPr sz="1600" b="0">
                <a:solidFill>
                  <a:srgbClr val="4A5568"/>
                </a:solidFill>
                <a:latin typeface="Open Sans"/>
              </a:rPr>
              <a:t>Un servidor virtual con 20 procesadores virtuales y 121 GB de memoria.</a:t>
            </a:r>
          </a:p>
          <a:p>
            <a:pPr algn="l">
              <a:spcBef>
                <a:spcPts val="300"/>
              </a:spcBef>
            </a:pPr>
            <a:r>
              <a:rPr sz="1600" b="0">
                <a:solidFill>
                  <a:srgbClr val="4A5568"/>
                </a:solidFill>
                <a:latin typeface="Open Sans"/>
              </a:rPr>
              <a:t>Equipo físico reutilizado y sin soporte del fabricante.</a:t>
            </a:r>
          </a:p>
          <a:p>
            <a:pPr algn="l">
              <a:spcBef>
                <a:spcPts val="300"/>
              </a:spcBef>
            </a:pPr>
            <a:r>
              <a:rPr sz="1600" b="0">
                <a:solidFill>
                  <a:srgbClr val="4A5568"/>
                </a:solidFill>
                <a:latin typeface="Open Sans"/>
              </a:rPr>
              <a:t>Procesador sin las instrucciones modernas de cálculo y sin tarjeta gráfica: la IA corre sin aceleración.</a:t>
            </a:r>
          </a:p>
          <a:p>
            <a:pPr algn="l">
              <a:spcBef>
                <a:spcPts val="300"/>
              </a:spcBef>
            </a:pPr>
            <a:r>
              <a:rPr sz="1600" b="0">
                <a:solidFill>
                  <a:srgbClr val="4A5568"/>
                </a:solidFill>
                <a:latin typeface="Open Sans"/>
              </a:rPr>
              <a:t>Todos los servicios, incluida la IA, comparten los mismos procesadores.</a:t>
            </a:r>
          </a:p>
        </p:txBody>
      </p:sp>
      <p:sp>
        <p:nvSpPr>
          <p:cNvPr id="9" name="Rectangle 8"/>
          <p:cNvSpPr/>
          <p:nvPr/>
        </p:nvSpPr>
        <p:spPr>
          <a:xfrm>
            <a:off x="6446520" y="2240280"/>
            <a:ext cx="4928616" cy="1143000"/>
          </a:xfrm>
          <a:prstGeom prst="rect">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2313432"/>
            <a:ext cx="4562855" cy="548640"/>
          </a:xfrm>
          <a:prstGeom prst="rect">
            <a:avLst/>
          </a:prstGeom>
          <a:noFill/>
        </p:spPr>
        <p:txBody>
          <a:bodyPr wrap="square" anchor="t" lIns="0" rIns="0" tIns="0" bIns="0">
            <a:spAutoFit/>
          </a:bodyPr>
          <a:lstStyle/>
          <a:p>
            <a:pPr algn="l"/>
            <a:r>
              <a:rPr sz="3400" b="1">
                <a:solidFill>
                  <a:srgbClr val="FFCB27"/>
                </a:solidFill>
                <a:latin typeface="Titillium Web"/>
              </a:rPr>
              <a:t>≈ 3 por segundo</a:t>
            </a:r>
          </a:p>
        </p:txBody>
      </p:sp>
      <p:sp>
        <p:nvSpPr>
          <p:cNvPr id="11" name="TextBox 10"/>
          <p:cNvSpPr txBox="1"/>
          <p:nvPr/>
        </p:nvSpPr>
        <p:spPr>
          <a:xfrm>
            <a:off x="6629400" y="2898648"/>
            <a:ext cx="4562855" cy="429768"/>
          </a:xfrm>
          <a:prstGeom prst="rect">
            <a:avLst/>
          </a:prstGeom>
          <a:noFill/>
        </p:spPr>
        <p:txBody>
          <a:bodyPr wrap="square" anchor="t" lIns="0" rIns="0" tIns="0" bIns="0">
            <a:spAutoFit/>
          </a:bodyPr>
          <a:lstStyle/>
          <a:p>
            <a:pPr algn="l"/>
            <a:r>
              <a:rPr sz="1200" b="0">
                <a:solidFill>
                  <a:srgbClr val="DCE6F5"/>
                </a:solidFill>
                <a:latin typeface="Open Sans"/>
              </a:rPr>
              <a:t>Velocidad con que la IA lee las instrucciones de una consulta (fragmentos de texto).</a:t>
            </a:r>
          </a:p>
        </p:txBody>
      </p:sp>
      <p:sp>
        <p:nvSpPr>
          <p:cNvPr id="12" name="Rectangle 11"/>
          <p:cNvSpPr/>
          <p:nvPr/>
        </p:nvSpPr>
        <p:spPr>
          <a:xfrm>
            <a:off x="6446520" y="3520440"/>
            <a:ext cx="4928616" cy="114300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593592"/>
            <a:ext cx="4562855" cy="548640"/>
          </a:xfrm>
          <a:prstGeom prst="rect">
            <a:avLst/>
          </a:prstGeom>
          <a:noFill/>
        </p:spPr>
        <p:txBody>
          <a:bodyPr wrap="square" anchor="t" lIns="0" rIns="0" tIns="0" bIns="0">
            <a:spAutoFit/>
          </a:bodyPr>
          <a:lstStyle/>
          <a:p>
            <a:pPr algn="l"/>
            <a:r>
              <a:rPr sz="3400" b="1">
                <a:solidFill>
                  <a:srgbClr val="002A6D"/>
                </a:solidFill>
                <a:latin typeface="Titillium Web"/>
              </a:rPr>
              <a:t>1.3 a 2.3 por segundo</a:t>
            </a:r>
          </a:p>
        </p:txBody>
      </p:sp>
      <p:sp>
        <p:nvSpPr>
          <p:cNvPr id="14" name="TextBox 13"/>
          <p:cNvSpPr txBox="1"/>
          <p:nvPr/>
        </p:nvSpPr>
        <p:spPr>
          <a:xfrm>
            <a:off x="6629400" y="4178808"/>
            <a:ext cx="4562855" cy="429768"/>
          </a:xfrm>
          <a:prstGeom prst="rect">
            <a:avLst/>
          </a:prstGeom>
          <a:noFill/>
        </p:spPr>
        <p:txBody>
          <a:bodyPr wrap="square" anchor="t" lIns="0" rIns="0" tIns="0" bIns="0">
            <a:spAutoFit/>
          </a:bodyPr>
          <a:lstStyle/>
          <a:p>
            <a:pPr algn="l"/>
            <a:r>
              <a:rPr sz="1200" b="0">
                <a:solidFill>
                  <a:srgbClr val="4A5568"/>
                </a:solidFill>
                <a:latin typeface="Open Sans"/>
              </a:rPr>
              <a:t>Velocidad con que la IA escribe la respuesta. Una respuesta de chat tarda más de un minuto.</a:t>
            </a:r>
          </a:p>
        </p:txBody>
      </p:sp>
      <p:sp>
        <p:nvSpPr>
          <p:cNvPr id="15" name="Rectangle 14"/>
          <p:cNvSpPr/>
          <p:nvPr/>
        </p:nvSpPr>
        <p:spPr>
          <a:xfrm>
            <a:off x="6446520" y="4800600"/>
            <a:ext cx="4928616" cy="118872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873752"/>
            <a:ext cx="4562855" cy="548640"/>
          </a:xfrm>
          <a:prstGeom prst="rect">
            <a:avLst/>
          </a:prstGeom>
          <a:noFill/>
        </p:spPr>
        <p:txBody>
          <a:bodyPr wrap="square" anchor="t" lIns="0" rIns="0" tIns="0" bIns="0">
            <a:spAutoFit/>
          </a:bodyPr>
          <a:lstStyle/>
          <a:p>
            <a:pPr algn="l"/>
            <a:r>
              <a:rPr sz="3400" b="1">
                <a:solidFill>
                  <a:srgbClr val="002A6D"/>
                </a:solidFill>
                <a:latin typeface="Titillium Web"/>
              </a:rPr>
              <a:t>12 de 20</a:t>
            </a:r>
          </a:p>
        </p:txBody>
      </p:sp>
      <p:sp>
        <p:nvSpPr>
          <p:cNvPr id="17" name="TextBox 16"/>
          <p:cNvSpPr txBox="1"/>
          <p:nvPr/>
        </p:nvSpPr>
        <p:spPr>
          <a:xfrm>
            <a:off x="6629400" y="5458968"/>
            <a:ext cx="4562855" cy="475488"/>
          </a:xfrm>
          <a:prstGeom prst="rect">
            <a:avLst/>
          </a:prstGeom>
          <a:noFill/>
        </p:spPr>
        <p:txBody>
          <a:bodyPr wrap="square" anchor="t" lIns="0" rIns="0" tIns="0" bIns="0">
            <a:spAutoFit/>
          </a:bodyPr>
          <a:lstStyle/>
          <a:p>
            <a:pPr algn="l"/>
            <a:r>
              <a:rPr sz="1200" b="0">
                <a:solidFill>
                  <a:srgbClr val="4A5568"/>
                </a:solidFill>
                <a:latin typeface="Open Sans"/>
              </a:rPr>
              <a:t>Usar los 20 procesadores hizo a la IA más lenta (1.3) que usar 12 (2.3): ya quedó configurado en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Usuarios simultáneos en cuatro situaciones de trabajo</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CÓMO PROBAMOS</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Se usaron documentos de ejemplo, nunca documentos reales. Ambiente de pruebas, 21 de octubre de 2026.</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5</a:t>
            </a:r>
          </a:p>
        </p:txBody>
      </p:sp>
      <p:sp>
        <p:nvSpPr>
          <p:cNvPr id="6" name="Rounded Rectangle 5"/>
          <p:cNvSpPr/>
          <p:nvPr/>
        </p:nvSpPr>
        <p:spPr>
          <a:xfrm>
            <a:off x="813816" y="2240280"/>
            <a:ext cx="2743200" cy="173736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331720"/>
            <a:ext cx="2468880" cy="365760"/>
          </a:xfrm>
          <a:prstGeom prst="rect">
            <a:avLst/>
          </a:prstGeom>
          <a:noFill/>
        </p:spPr>
        <p:txBody>
          <a:bodyPr wrap="square" anchor="t" lIns="0" rIns="0" tIns="0" bIns="0">
            <a:spAutoFit/>
          </a:bodyPr>
          <a:lstStyle/>
          <a:p>
            <a:pPr algn="l"/>
            <a:r>
              <a:rPr sz="1400" b="1">
                <a:solidFill>
                  <a:srgbClr val="0D1B3E"/>
                </a:solidFill>
                <a:latin typeface="Titillium Web"/>
              </a:rPr>
              <a:t>Revisión de ortografía</a:t>
            </a:r>
          </a:p>
        </p:txBody>
      </p:sp>
      <p:sp>
        <p:nvSpPr>
          <p:cNvPr id="8" name="TextBox 7"/>
          <p:cNvSpPr txBox="1"/>
          <p:nvPr/>
        </p:nvSpPr>
        <p:spPr>
          <a:xfrm>
            <a:off x="950976" y="2607310"/>
            <a:ext cx="2468880" cy="1188719"/>
          </a:xfrm>
          <a:prstGeom prst="rect">
            <a:avLst/>
          </a:prstGeom>
          <a:noFill/>
        </p:spPr>
        <p:txBody>
          <a:bodyPr wrap="square" anchor="t" lIns="0" rIns="0" tIns="0" bIns="0">
            <a:spAutoFit/>
          </a:bodyPr>
          <a:lstStyle/>
          <a:p>
            <a:pPr algn="l"/>
            <a:r>
              <a:rPr sz="1500" b="0">
                <a:solidFill>
                  <a:srgbClr val="4A5568"/>
                </a:solidFill>
                <a:latin typeface="Open Sans"/>
              </a:rPr>
              <a:t>Un texto con errores de escritura.</a:t>
            </a:r>
          </a:p>
        </p:txBody>
      </p:sp>
      <p:sp>
        <p:nvSpPr>
          <p:cNvPr id="9" name="Rounded Rectangle 8"/>
          <p:cNvSpPr/>
          <p:nvPr/>
        </p:nvSpPr>
        <p:spPr>
          <a:xfrm>
            <a:off x="3657600" y="2240280"/>
            <a:ext cx="2743200" cy="173736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0" y="2331720"/>
            <a:ext cx="2468880" cy="365760"/>
          </a:xfrm>
          <a:prstGeom prst="rect">
            <a:avLst/>
          </a:prstGeom>
          <a:noFill/>
        </p:spPr>
        <p:txBody>
          <a:bodyPr wrap="square" anchor="t" lIns="0" rIns="0" tIns="0" bIns="0">
            <a:spAutoFit/>
          </a:bodyPr>
          <a:lstStyle/>
          <a:p>
            <a:pPr algn="l"/>
            <a:r>
              <a:rPr sz="1400" b="1">
                <a:solidFill>
                  <a:srgbClr val="0D1B3E"/>
                </a:solidFill>
                <a:latin typeface="Titillium Web"/>
              </a:rPr>
              <a:t>Excel contable con IA</a:t>
            </a:r>
          </a:p>
        </p:txBody>
      </p:sp>
      <p:sp>
        <p:nvSpPr>
          <p:cNvPr id="11" name="TextBox 10"/>
          <p:cNvSpPr txBox="1"/>
          <p:nvPr/>
        </p:nvSpPr>
        <p:spPr>
          <a:xfrm>
            <a:off x="3794760" y="2607310"/>
            <a:ext cx="2468880" cy="1188719"/>
          </a:xfrm>
          <a:prstGeom prst="rect">
            <a:avLst/>
          </a:prstGeom>
          <a:noFill/>
        </p:spPr>
        <p:txBody>
          <a:bodyPr wrap="square" anchor="t" lIns="0" rIns="0" tIns="0" bIns="0">
            <a:spAutoFit/>
          </a:bodyPr>
          <a:lstStyle/>
          <a:p>
            <a:pPr algn="l"/>
            <a:r>
              <a:rPr sz="1500" b="0">
                <a:solidFill>
                  <a:srgbClr val="4A5568"/>
                </a:solidFill>
                <a:latin typeface="Open Sans"/>
              </a:rPr>
              <a:t>Un libro diario con errores sembrados y explicación de cada hallazgo.</a:t>
            </a:r>
          </a:p>
        </p:txBody>
      </p:sp>
      <p:sp>
        <p:nvSpPr>
          <p:cNvPr id="12" name="Rounded Rectangle 11"/>
          <p:cNvSpPr/>
          <p:nvPr/>
        </p:nvSpPr>
        <p:spPr>
          <a:xfrm>
            <a:off x="813816" y="4114800"/>
            <a:ext cx="2743200" cy="1874519"/>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4206240"/>
            <a:ext cx="2468880" cy="365760"/>
          </a:xfrm>
          <a:prstGeom prst="rect">
            <a:avLst/>
          </a:prstGeom>
          <a:noFill/>
        </p:spPr>
        <p:txBody>
          <a:bodyPr wrap="square" anchor="t" lIns="0" rIns="0" tIns="0" bIns="0">
            <a:spAutoFit/>
          </a:bodyPr>
          <a:lstStyle/>
          <a:p>
            <a:pPr algn="l"/>
            <a:r>
              <a:rPr sz="1400" b="1">
                <a:solidFill>
                  <a:srgbClr val="0D1B3E"/>
                </a:solidFill>
                <a:latin typeface="Titillium Web"/>
              </a:rPr>
              <a:t>Chat con las normas</a:t>
            </a:r>
          </a:p>
        </p:txBody>
      </p:sp>
      <p:sp>
        <p:nvSpPr>
          <p:cNvPr id="14" name="TextBox 13"/>
          <p:cNvSpPr txBox="1"/>
          <p:nvPr/>
        </p:nvSpPr>
        <p:spPr>
          <a:xfrm>
            <a:off x="950976" y="4481830"/>
            <a:ext cx="2468880" cy="1325879"/>
          </a:xfrm>
          <a:prstGeom prst="rect">
            <a:avLst/>
          </a:prstGeom>
          <a:noFill/>
        </p:spPr>
        <p:txBody>
          <a:bodyPr wrap="square" anchor="t" lIns="0" rIns="0" tIns="0" bIns="0">
            <a:spAutoFit/>
          </a:bodyPr>
          <a:lstStyle/>
          <a:p>
            <a:pPr algn="l"/>
            <a:r>
              <a:rPr sz="1500" b="0">
                <a:solidFill>
                  <a:srgbClr val="4A5568"/>
                </a:solidFill>
                <a:latin typeface="Open Sans"/>
              </a:rPr>
              <a:t>Una pregunta sobre políticas, con respuesta y fuente citada.</a:t>
            </a:r>
          </a:p>
        </p:txBody>
      </p:sp>
      <p:sp>
        <p:nvSpPr>
          <p:cNvPr id="15" name="Rounded Rectangle 14"/>
          <p:cNvSpPr/>
          <p:nvPr/>
        </p:nvSpPr>
        <p:spPr>
          <a:xfrm>
            <a:off x="3657600" y="4114800"/>
            <a:ext cx="2743200" cy="1874519"/>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760" y="4206240"/>
            <a:ext cx="2468880" cy="365760"/>
          </a:xfrm>
          <a:prstGeom prst="rect">
            <a:avLst/>
          </a:prstGeom>
          <a:noFill/>
        </p:spPr>
        <p:txBody>
          <a:bodyPr wrap="square" anchor="t" lIns="0" rIns="0" tIns="0" bIns="0">
            <a:spAutoFit/>
          </a:bodyPr>
          <a:lstStyle/>
          <a:p>
            <a:pPr algn="l"/>
            <a:r>
              <a:rPr sz="1400" b="1">
                <a:solidFill>
                  <a:srgbClr val="0D1B3E"/>
                </a:solidFill>
                <a:latin typeface="Titillium Web"/>
              </a:rPr>
              <a:t>Uso mezclado</a:t>
            </a:r>
          </a:p>
        </p:txBody>
      </p:sp>
      <p:sp>
        <p:nvSpPr>
          <p:cNvPr id="17" name="TextBox 16"/>
          <p:cNvSpPr txBox="1"/>
          <p:nvPr/>
        </p:nvSpPr>
        <p:spPr>
          <a:xfrm>
            <a:off x="3794760" y="4481830"/>
            <a:ext cx="2468880" cy="1325879"/>
          </a:xfrm>
          <a:prstGeom prst="rect">
            <a:avLst/>
          </a:prstGeom>
          <a:noFill/>
        </p:spPr>
        <p:txBody>
          <a:bodyPr wrap="square" anchor="t" lIns="0" rIns="0" tIns="0" bIns="0">
            <a:spAutoFit/>
          </a:bodyPr>
          <a:lstStyle/>
          <a:p>
            <a:pPr algn="l"/>
            <a:r>
              <a:rPr sz="1500" b="0">
                <a:solidFill>
                  <a:srgbClr val="4A5568"/>
                </a:solidFill>
                <a:latin typeface="Open Sans"/>
              </a:rPr>
              <a:t>Excel, ortografía y chat al mismo tiempo.</a:t>
            </a:r>
          </a:p>
        </p:txBody>
      </p:sp>
      <p:sp>
        <p:nvSpPr>
          <p:cNvPr id="18" name="Rounded Rectangle 17"/>
          <p:cNvSpPr/>
          <p:nvPr/>
        </p:nvSpPr>
        <p:spPr>
          <a:xfrm>
            <a:off x="6675120" y="2240280"/>
            <a:ext cx="4700016" cy="3749039"/>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20" y="2377440"/>
            <a:ext cx="4297680" cy="365760"/>
          </a:xfrm>
          <a:prstGeom prst="rect">
            <a:avLst/>
          </a:prstGeom>
          <a:noFill/>
        </p:spPr>
        <p:txBody>
          <a:bodyPr wrap="square" anchor="t" lIns="0" rIns="0" tIns="0" bIns="0">
            <a:spAutoFit/>
          </a:bodyPr>
          <a:lstStyle/>
          <a:p>
            <a:pPr algn="l"/>
            <a:r>
              <a:rPr sz="2000" b="1">
                <a:solidFill>
                  <a:srgbClr val="FFCB27"/>
                </a:solidFill>
                <a:latin typeface="Titillium Web"/>
              </a:rPr>
              <a:t>Qué medimos</a:t>
            </a:r>
          </a:p>
        </p:txBody>
      </p:sp>
      <p:sp>
        <p:nvSpPr>
          <p:cNvPr id="20" name="TextBox 19"/>
          <p:cNvSpPr txBox="1"/>
          <p:nvPr/>
        </p:nvSpPr>
        <p:spPr>
          <a:xfrm>
            <a:off x="6903720" y="2926080"/>
            <a:ext cx="4297680" cy="2926080"/>
          </a:xfrm>
          <a:prstGeom prst="rect">
            <a:avLst/>
          </a:prstGeom>
          <a:noFill/>
        </p:spPr>
        <p:txBody>
          <a:bodyPr wrap="square" anchor="t" lIns="0" rIns="0" tIns="0" bIns="0">
            <a:spAutoFit/>
          </a:bodyPr>
          <a:lstStyle/>
          <a:p>
            <a:pPr algn="l"/>
            <a:r>
              <a:rPr sz="1600" b="0">
                <a:solidFill>
                  <a:srgbClr val="FFFFFF"/>
                </a:solidFill>
                <a:latin typeface="Open Sans"/>
              </a:rPr>
              <a:t>1, 3, 5 y 10 usuarios al mismo tiempo.</a:t>
            </a:r>
          </a:p>
          <a:p>
            <a:pPr algn="l">
              <a:spcBef>
                <a:spcPts val="800"/>
              </a:spcBef>
            </a:pPr>
            <a:r>
              <a:rPr sz="1600" b="0">
                <a:solidFill>
                  <a:srgbClr val="FFFFFF"/>
                </a:solidFill>
                <a:latin typeface="Open Sans"/>
              </a:rPr>
              <a:t>El tiempo hasta ver los primeros resultados y hasta terminar todo.</a:t>
            </a:r>
          </a:p>
          <a:p>
            <a:pPr algn="l">
              <a:spcBef>
                <a:spcPts val="800"/>
              </a:spcBef>
            </a:pPr>
            <a:r>
              <a:rPr sz="1600" b="0">
                <a:solidFill>
                  <a:srgbClr val="FFFFFF"/>
                </a:solidFill>
                <a:latin typeface="Open Sans"/>
              </a:rPr>
              <a:t>Cuántos análisis terminan sin error.</a:t>
            </a:r>
          </a:p>
          <a:p>
            <a:pPr algn="l">
              <a:spcBef>
                <a:spcPts val="800"/>
              </a:spcBef>
            </a:pPr>
            <a:r>
              <a:rPr sz="1600" b="0">
                <a:solidFill>
                  <a:srgbClr val="FFFFFF"/>
                </a:solidFill>
                <a:latin typeface="Open Sans"/>
              </a:rPr>
              <a:t>Cuántos análisis completa el servidor por hora.</a:t>
            </a:r>
          </a:p>
          <a:p>
            <a:pPr algn="l">
              <a:spcBef>
                <a:spcPts val="800"/>
              </a:spcBef>
            </a:pPr>
            <a:r>
              <a:rPr sz="1600" b="0">
                <a:solidFill>
                  <a:srgbClr val="FFFFFF"/>
                </a:solidFill>
                <a:latin typeface="Open Sans"/>
              </a:rPr>
              <a:t>Tiempo máximo permitido por solicitud: 10 minutos.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Revisión de ortografía: rápida y estable hasta 10 usuarios</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RESULTADOS · 1 DE 3</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Segundos que tardó en terminar el 90 % de las revisiones. Las dudas se validan con IA en segundo plano y no retrasan el resultado.</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6</a:t>
            </a:r>
          </a:p>
        </p:txBody>
      </p:sp>
      <p:sp>
        <p:nvSpPr>
          <p:cNvPr id="6" name="TextBox 5"/>
          <p:cNvSpPr txBox="1"/>
          <p:nvPr/>
        </p:nvSpPr>
        <p:spPr>
          <a:xfrm>
            <a:off x="813816" y="2103120"/>
            <a:ext cx="6858000" cy="274320"/>
          </a:xfrm>
          <a:prstGeom prst="rect">
            <a:avLst/>
          </a:prstGeom>
          <a:noFill/>
        </p:spPr>
        <p:txBody>
          <a:bodyPr wrap="square" anchor="t" lIns="0" rIns="0" tIns="0" bIns="0">
            <a:spAutoFit/>
          </a:bodyPr>
          <a:lstStyle/>
          <a:p>
            <a:pPr algn="l"/>
            <a:r>
              <a:rPr sz="1300" b="1">
                <a:solidFill>
                  <a:srgbClr val="0D1B3E"/>
                </a:solidFill>
                <a:latin typeface="Open Sans"/>
              </a:rPr>
              <a:t>Segundos de espera, según cuántos usuarios trabajan a la vez</a:t>
            </a:r>
          </a:p>
        </p:txBody>
      </p:sp>
      <p:graphicFrame>
        <p:nvGraphicFramePr>
          <p:cNvPr id="7" name="Chart 6"/>
          <p:cNvGraphicFramePr>
            <a:graphicFrameLocks noGrp="1"/>
          </p:cNvGraphicFramePr>
          <p:nvPr/>
        </p:nvGraphicFramePr>
        <p:xfrm>
          <a:off x="813816" y="2423160"/>
          <a:ext cx="6949440" cy="3657600"/>
        </p:xfrm>
        <a:graphic>
          <a:graphicData uri="http://schemas.openxmlformats.org/drawingml/2006/chart">
            <c:chart xmlns:c="http://schemas.openxmlformats.org/drawingml/2006/chart" r:id="rId2"/>
          </a:graphicData>
        </a:graphic>
      </p:graphicFrame>
      <p:sp>
        <p:nvSpPr>
          <p:cNvPr id="8" name="Rectangle 7"/>
          <p:cNvSpPr/>
          <p:nvPr/>
        </p:nvSpPr>
        <p:spPr>
          <a:xfrm>
            <a:off x="8092440" y="2103120"/>
            <a:ext cx="3282696" cy="1216152"/>
          </a:xfrm>
          <a:prstGeom prst="rect">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19" y="2176272"/>
            <a:ext cx="2916936" cy="548640"/>
          </a:xfrm>
          <a:prstGeom prst="rect">
            <a:avLst/>
          </a:prstGeom>
          <a:noFill/>
        </p:spPr>
        <p:txBody>
          <a:bodyPr wrap="square" anchor="t" lIns="0" rIns="0" tIns="0" bIns="0">
            <a:spAutoFit/>
          </a:bodyPr>
          <a:lstStyle/>
          <a:p>
            <a:pPr algn="l"/>
            <a:r>
              <a:rPr sz="3400" b="1">
                <a:solidFill>
                  <a:srgbClr val="FFCB27"/>
                </a:solidFill>
                <a:latin typeface="Titillium Web"/>
              </a:rPr>
              <a:t>100 %</a:t>
            </a:r>
          </a:p>
        </p:txBody>
      </p:sp>
      <p:sp>
        <p:nvSpPr>
          <p:cNvPr id="10" name="TextBox 9"/>
          <p:cNvSpPr txBox="1"/>
          <p:nvPr/>
        </p:nvSpPr>
        <p:spPr>
          <a:xfrm>
            <a:off x="8275319" y="2761487"/>
            <a:ext cx="2916936" cy="502920"/>
          </a:xfrm>
          <a:prstGeom prst="rect">
            <a:avLst/>
          </a:prstGeom>
          <a:noFill/>
        </p:spPr>
        <p:txBody>
          <a:bodyPr wrap="square" anchor="t" lIns="0" rIns="0" tIns="0" bIns="0">
            <a:spAutoFit/>
          </a:bodyPr>
          <a:lstStyle/>
          <a:p>
            <a:pPr algn="l"/>
            <a:r>
              <a:rPr sz="1200" b="0">
                <a:solidFill>
                  <a:srgbClr val="DCE6F5"/>
                </a:solidFill>
                <a:latin typeface="Open Sans"/>
              </a:rPr>
              <a:t>de las 19 revisiones terminaron sin errores.</a:t>
            </a:r>
          </a:p>
        </p:txBody>
      </p:sp>
      <p:sp>
        <p:nvSpPr>
          <p:cNvPr id="11" name="Rectangle 10"/>
          <p:cNvSpPr/>
          <p:nvPr/>
        </p:nvSpPr>
        <p:spPr>
          <a:xfrm>
            <a:off x="8092440" y="3474720"/>
            <a:ext cx="3282696" cy="121615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3547872"/>
            <a:ext cx="2916936" cy="548640"/>
          </a:xfrm>
          <a:prstGeom prst="rect">
            <a:avLst/>
          </a:prstGeom>
          <a:noFill/>
        </p:spPr>
        <p:txBody>
          <a:bodyPr wrap="square" anchor="t" lIns="0" rIns="0" tIns="0" bIns="0">
            <a:spAutoFit/>
          </a:bodyPr>
          <a:lstStyle/>
          <a:p>
            <a:pPr algn="l"/>
            <a:r>
              <a:rPr sz="3400" b="1">
                <a:solidFill>
                  <a:srgbClr val="002A6D"/>
                </a:solidFill>
                <a:latin typeface="Titillium Web"/>
              </a:rPr>
              <a:t>8 s</a:t>
            </a:r>
          </a:p>
        </p:txBody>
      </p:sp>
      <p:sp>
        <p:nvSpPr>
          <p:cNvPr id="13" name="TextBox 12"/>
          <p:cNvSpPr txBox="1"/>
          <p:nvPr/>
        </p:nvSpPr>
        <p:spPr>
          <a:xfrm>
            <a:off x="8275319" y="4133087"/>
            <a:ext cx="2916936" cy="502920"/>
          </a:xfrm>
          <a:prstGeom prst="rect">
            <a:avLst/>
          </a:prstGeom>
          <a:noFill/>
        </p:spPr>
        <p:txBody>
          <a:bodyPr wrap="square" anchor="t" lIns="0" rIns="0" tIns="0" bIns="0">
            <a:spAutoFit/>
          </a:bodyPr>
          <a:lstStyle/>
          <a:p>
            <a:pPr algn="l"/>
            <a:r>
              <a:rPr sz="1200" b="0">
                <a:solidFill>
                  <a:srgbClr val="4A5568"/>
                </a:solidFill>
                <a:latin typeface="Open Sans"/>
              </a:rPr>
              <a:t>con 10 usuarios a la vez, el 90 % terminó en menos de este tiempo.</a:t>
            </a:r>
          </a:p>
        </p:txBody>
      </p:sp>
      <p:sp>
        <p:nvSpPr>
          <p:cNvPr id="14" name="Rectangle 13"/>
          <p:cNvSpPr/>
          <p:nvPr/>
        </p:nvSpPr>
        <p:spPr>
          <a:xfrm>
            <a:off x="8092440" y="4846320"/>
            <a:ext cx="3282696" cy="121615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4919472"/>
            <a:ext cx="2916936" cy="548640"/>
          </a:xfrm>
          <a:prstGeom prst="rect">
            <a:avLst/>
          </a:prstGeom>
          <a:noFill/>
        </p:spPr>
        <p:txBody>
          <a:bodyPr wrap="square" anchor="t" lIns="0" rIns="0" tIns="0" bIns="0">
            <a:spAutoFit/>
          </a:bodyPr>
          <a:lstStyle/>
          <a:p>
            <a:pPr algn="l"/>
            <a:r>
              <a:rPr sz="3400" b="1">
                <a:solidFill>
                  <a:srgbClr val="002A6D"/>
                </a:solidFill>
                <a:latin typeface="Titillium Web"/>
              </a:rPr>
              <a:t>Sin IA</a:t>
            </a:r>
          </a:p>
        </p:txBody>
      </p:sp>
      <p:sp>
        <p:nvSpPr>
          <p:cNvPr id="16" name="TextBox 15"/>
          <p:cNvSpPr txBox="1"/>
          <p:nvPr/>
        </p:nvSpPr>
        <p:spPr>
          <a:xfrm>
            <a:off x="8275319" y="5504688"/>
            <a:ext cx="2916936" cy="502920"/>
          </a:xfrm>
          <a:prstGeom prst="rect">
            <a:avLst/>
          </a:prstGeom>
          <a:noFill/>
        </p:spPr>
        <p:txBody>
          <a:bodyPr wrap="square" anchor="t" lIns="0" rIns="0" tIns="0" bIns="0">
            <a:spAutoFit/>
          </a:bodyPr>
          <a:lstStyle/>
          <a:p>
            <a:pPr algn="l"/>
            <a:r>
              <a:rPr sz="1200" b="0">
                <a:solidFill>
                  <a:srgbClr val="4A5568"/>
                </a:solidFill>
                <a:latin typeface="Open Sans"/>
              </a:rPr>
              <a:t>usa un corrector de idioma propio, no el motor de 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Con IA, la espera crece con cada usuario que se suma</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RESULTADOS · 2 DE 3</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Segundos hasta terminar el 90 % de las solicitudes. *Chat con 5 usuarios: 4 de 5 respondidos; una solicitud se cortó por límite de tiempo, ya corregido.</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7</a:t>
            </a:r>
          </a:p>
        </p:txBody>
      </p:sp>
      <p:sp>
        <p:nvSpPr>
          <p:cNvPr id="6" name="TextBox 5"/>
          <p:cNvSpPr txBox="1"/>
          <p:nvPr/>
        </p:nvSpPr>
        <p:spPr>
          <a:xfrm>
            <a:off x="813816" y="2103120"/>
            <a:ext cx="6858000" cy="274320"/>
          </a:xfrm>
          <a:prstGeom prst="rect">
            <a:avLst/>
          </a:prstGeom>
          <a:noFill/>
        </p:spPr>
        <p:txBody>
          <a:bodyPr wrap="square" anchor="t" lIns="0" rIns="0" tIns="0" bIns="0">
            <a:spAutoFit/>
          </a:bodyPr>
          <a:lstStyle/>
          <a:p>
            <a:pPr algn="l"/>
            <a:r>
              <a:rPr sz="1300" b="1">
                <a:solidFill>
                  <a:srgbClr val="0D1B3E"/>
                </a:solidFill>
                <a:latin typeface="Open Sans"/>
              </a:rPr>
              <a:t>Segundos de espera, según cuántos usuarios trabajan a la vez</a:t>
            </a:r>
          </a:p>
        </p:txBody>
      </p:sp>
      <p:graphicFrame>
        <p:nvGraphicFramePr>
          <p:cNvPr id="7" name="Chart 6"/>
          <p:cNvGraphicFramePr>
            <a:graphicFrameLocks noGrp="1"/>
          </p:cNvGraphicFramePr>
          <p:nvPr/>
        </p:nvGraphicFramePr>
        <p:xfrm>
          <a:off x="813816" y="2423160"/>
          <a:ext cx="6949440" cy="3657600"/>
        </p:xfrm>
        <a:graphic>
          <a:graphicData uri="http://schemas.openxmlformats.org/drawingml/2006/chart">
            <c:chart xmlns:c="http://schemas.openxmlformats.org/drawingml/2006/chart" r:id="rId2"/>
          </a:graphicData>
        </a:graphic>
      </p:graphicFrame>
      <p:sp>
        <p:nvSpPr>
          <p:cNvPr id="8" name="Rectangle 7"/>
          <p:cNvSpPr/>
          <p:nvPr/>
        </p:nvSpPr>
        <p:spPr>
          <a:xfrm>
            <a:off x="8092440" y="2103120"/>
            <a:ext cx="3282696" cy="1216152"/>
          </a:xfrm>
          <a:prstGeom prst="rect">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19" y="2176272"/>
            <a:ext cx="2916936" cy="548640"/>
          </a:xfrm>
          <a:prstGeom prst="rect">
            <a:avLst/>
          </a:prstGeom>
          <a:noFill/>
        </p:spPr>
        <p:txBody>
          <a:bodyPr wrap="square" anchor="t" lIns="0" rIns="0" tIns="0" bIns="0">
            <a:spAutoFit/>
          </a:bodyPr>
          <a:lstStyle/>
          <a:p>
            <a:pPr algn="l"/>
            <a:r>
              <a:rPr sz="3400" b="1">
                <a:solidFill>
                  <a:srgbClr val="FFCB27"/>
                </a:solidFill>
                <a:latin typeface="Titillium Web"/>
              </a:rPr>
              <a:t>3 a 13 s</a:t>
            </a:r>
          </a:p>
        </p:txBody>
      </p:sp>
      <p:sp>
        <p:nvSpPr>
          <p:cNvPr id="10" name="TextBox 9"/>
          <p:cNvSpPr txBox="1"/>
          <p:nvPr/>
        </p:nvSpPr>
        <p:spPr>
          <a:xfrm>
            <a:off x="8275319" y="2761487"/>
            <a:ext cx="2916936" cy="502920"/>
          </a:xfrm>
          <a:prstGeom prst="rect">
            <a:avLst/>
          </a:prstGeom>
          <a:noFill/>
        </p:spPr>
        <p:txBody>
          <a:bodyPr wrap="square" anchor="t" lIns="0" rIns="0" tIns="0" bIns="0">
            <a:spAutoFit/>
          </a:bodyPr>
          <a:lstStyle/>
          <a:p>
            <a:pPr algn="l"/>
            <a:r>
              <a:rPr sz="1200" b="0">
                <a:solidFill>
                  <a:srgbClr val="DCE6F5"/>
                </a:solidFill>
                <a:latin typeface="Open Sans"/>
              </a:rPr>
              <a:t>primeros hallazgos del Excel, antes de la explicación de la IA.</a:t>
            </a:r>
          </a:p>
        </p:txBody>
      </p:sp>
      <p:sp>
        <p:nvSpPr>
          <p:cNvPr id="11" name="Rectangle 10"/>
          <p:cNvSpPr/>
          <p:nvPr/>
        </p:nvSpPr>
        <p:spPr>
          <a:xfrm>
            <a:off x="8092440" y="3474720"/>
            <a:ext cx="3282696" cy="121615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3547872"/>
            <a:ext cx="2916936" cy="548640"/>
          </a:xfrm>
          <a:prstGeom prst="rect">
            <a:avLst/>
          </a:prstGeom>
          <a:noFill/>
        </p:spPr>
        <p:txBody>
          <a:bodyPr wrap="square" anchor="t" lIns="0" rIns="0" tIns="0" bIns="0">
            <a:spAutoFit/>
          </a:bodyPr>
          <a:lstStyle/>
          <a:p>
            <a:pPr algn="l"/>
            <a:r>
              <a:rPr sz="3400" b="1">
                <a:solidFill>
                  <a:srgbClr val="002A6D"/>
                </a:solidFill>
                <a:latin typeface="Titillium Web"/>
              </a:rPr>
              <a:t>9 de 9</a:t>
            </a:r>
          </a:p>
        </p:txBody>
      </p:sp>
      <p:sp>
        <p:nvSpPr>
          <p:cNvPr id="13" name="TextBox 12"/>
          <p:cNvSpPr txBox="1"/>
          <p:nvPr/>
        </p:nvSpPr>
        <p:spPr>
          <a:xfrm>
            <a:off x="8275319" y="4133087"/>
            <a:ext cx="2916936" cy="502920"/>
          </a:xfrm>
          <a:prstGeom prst="rect">
            <a:avLst/>
          </a:prstGeom>
          <a:noFill/>
        </p:spPr>
        <p:txBody>
          <a:bodyPr wrap="square" anchor="t" lIns="0" rIns="0" tIns="0" bIns="0">
            <a:spAutoFit/>
          </a:bodyPr>
          <a:lstStyle/>
          <a:p>
            <a:pPr algn="l"/>
            <a:r>
              <a:rPr sz="1200" b="0">
                <a:solidFill>
                  <a:srgbClr val="4A5568"/>
                </a:solidFill>
                <a:latin typeface="Open Sans"/>
              </a:rPr>
              <a:t>análisis del Excel completados con la explicación de la IA.</a:t>
            </a:r>
          </a:p>
        </p:txBody>
      </p:sp>
      <p:sp>
        <p:nvSpPr>
          <p:cNvPr id="14" name="Rectangle 13"/>
          <p:cNvSpPr/>
          <p:nvPr/>
        </p:nvSpPr>
        <p:spPr>
          <a:xfrm>
            <a:off x="8092440" y="4846320"/>
            <a:ext cx="3282696" cy="121615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4919472"/>
            <a:ext cx="2916936" cy="548640"/>
          </a:xfrm>
          <a:prstGeom prst="rect">
            <a:avLst/>
          </a:prstGeom>
          <a:noFill/>
        </p:spPr>
        <p:txBody>
          <a:bodyPr wrap="square" anchor="t" lIns="0" rIns="0" tIns="0" bIns="0">
            <a:spAutoFit/>
          </a:bodyPr>
          <a:lstStyle/>
          <a:p>
            <a:pPr algn="l"/>
            <a:r>
              <a:rPr sz="3400" b="1">
                <a:solidFill>
                  <a:srgbClr val="002A6D"/>
                </a:solidFill>
                <a:latin typeface="Titillium Web"/>
              </a:rPr>
              <a:t>5×</a:t>
            </a:r>
          </a:p>
        </p:txBody>
      </p:sp>
      <p:sp>
        <p:nvSpPr>
          <p:cNvPr id="16" name="TextBox 15"/>
          <p:cNvSpPr txBox="1"/>
          <p:nvPr/>
        </p:nvSpPr>
        <p:spPr>
          <a:xfrm>
            <a:off x="8275319" y="5504688"/>
            <a:ext cx="2916936" cy="502920"/>
          </a:xfrm>
          <a:prstGeom prst="rect">
            <a:avLst/>
          </a:prstGeom>
          <a:noFill/>
        </p:spPr>
        <p:txBody>
          <a:bodyPr wrap="square" anchor="t" lIns="0" rIns="0" tIns="0" bIns="0">
            <a:spAutoFit/>
          </a:bodyPr>
          <a:lstStyle/>
          <a:p>
            <a:pPr algn="l"/>
            <a:r>
              <a:rPr sz="1200" b="0">
                <a:solidFill>
                  <a:srgbClr val="4A5568"/>
                </a:solidFill>
                <a:latin typeface="Open Sans"/>
              </a:rPr>
              <a:t>más espera en el Excel al pasar de 1 a 5 usuarios (66 s a 345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La capacidad total no crece: más usuarios solo alargan la espera</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RESULTADOS · 3 DE 3</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Segundos hasta terminar el 90 % de las solicitudes. Mezcla de 3 usuarios: 1 Excel, 1 ortografía, 1 chat; de 5 usuarios: 2 Excel, 2 ortografía, 1 chat.</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8</a:t>
            </a:r>
          </a:p>
        </p:txBody>
      </p:sp>
      <p:sp>
        <p:nvSpPr>
          <p:cNvPr id="6" name="TextBox 5"/>
          <p:cNvSpPr txBox="1"/>
          <p:nvPr/>
        </p:nvSpPr>
        <p:spPr>
          <a:xfrm>
            <a:off x="813816" y="2103120"/>
            <a:ext cx="5852160" cy="274320"/>
          </a:xfrm>
          <a:prstGeom prst="rect">
            <a:avLst/>
          </a:prstGeom>
          <a:noFill/>
        </p:spPr>
        <p:txBody>
          <a:bodyPr wrap="square" anchor="t" lIns="0" rIns="0" tIns="0" bIns="0">
            <a:spAutoFit/>
          </a:bodyPr>
          <a:lstStyle/>
          <a:p>
            <a:pPr algn="l"/>
            <a:r>
              <a:rPr sz="1300" b="1">
                <a:solidFill>
                  <a:srgbClr val="0D1B3E"/>
                </a:solidFill>
                <a:latin typeface="Open Sans"/>
              </a:rPr>
              <a:t>Espera con tareas mezcladas (segundos)</a:t>
            </a:r>
          </a:p>
        </p:txBody>
      </p:sp>
      <p:graphicFrame>
        <p:nvGraphicFramePr>
          <p:cNvPr id="7" name="Chart 6"/>
          <p:cNvGraphicFramePr>
            <a:graphicFrameLocks noGrp="1"/>
          </p:cNvGraphicFramePr>
          <p:nvPr/>
        </p:nvGraphicFramePr>
        <p:xfrm>
          <a:off x="813816" y="2423160"/>
          <a:ext cx="6035040" cy="3657600"/>
        </p:xfrm>
        <a:graphic>
          <a:graphicData uri="http://schemas.openxmlformats.org/drawingml/2006/chart">
            <c:chart xmlns:c="http://schemas.openxmlformats.org/drawingml/2006/chart" r:id="rId2"/>
          </a:graphicData>
        </a:graphic>
      </p:graphicFrame>
      <p:sp>
        <p:nvSpPr>
          <p:cNvPr id="8" name="TextBox 7"/>
          <p:cNvSpPr txBox="1"/>
          <p:nvPr/>
        </p:nvSpPr>
        <p:spPr>
          <a:xfrm>
            <a:off x="7178040" y="2103120"/>
            <a:ext cx="4206240" cy="274320"/>
          </a:xfrm>
          <a:prstGeom prst="rect">
            <a:avLst/>
          </a:prstGeom>
          <a:noFill/>
        </p:spPr>
        <p:txBody>
          <a:bodyPr wrap="square" anchor="t" lIns="0" rIns="0" tIns="0" bIns="0">
            <a:spAutoFit/>
          </a:bodyPr>
          <a:lstStyle/>
          <a:p>
            <a:pPr algn="l"/>
            <a:r>
              <a:rPr sz="1300" b="1">
                <a:solidFill>
                  <a:srgbClr val="0D1B3E"/>
                </a:solidFill>
                <a:latin typeface="Open Sans"/>
              </a:rPr>
              <a:t>Análisis de Excel completados por hora</a:t>
            </a:r>
          </a:p>
        </p:txBody>
      </p:sp>
      <p:graphicFrame>
        <p:nvGraphicFramePr>
          <p:cNvPr id="9" name="Chart 8"/>
          <p:cNvGraphicFramePr>
            <a:graphicFrameLocks noGrp="1"/>
          </p:cNvGraphicFramePr>
          <p:nvPr/>
        </p:nvGraphicFramePr>
        <p:xfrm>
          <a:off x="7178040" y="2423160"/>
          <a:ext cx="4197096" cy="2834640"/>
        </p:xfrm>
        <a:graphic>
          <a:graphicData uri="http://schemas.openxmlformats.org/drawingml/2006/chart">
            <c:chart xmlns:c="http://schemas.openxmlformats.org/drawingml/2006/chart" r:id="rId3"/>
          </a:graphicData>
        </a:graphic>
      </p:graphicFrame>
      <p:sp>
        <p:nvSpPr>
          <p:cNvPr id="10" name="TextBox 9"/>
          <p:cNvSpPr txBox="1"/>
          <p:nvPr/>
        </p:nvSpPr>
        <p:spPr>
          <a:xfrm>
            <a:off x="7178040" y="5349240"/>
            <a:ext cx="4197096" cy="731520"/>
          </a:xfrm>
          <a:prstGeom prst="rect">
            <a:avLst/>
          </a:prstGeom>
          <a:noFill/>
        </p:spPr>
        <p:txBody>
          <a:bodyPr wrap="square" anchor="t" lIns="0" rIns="0" tIns="0" bIns="0">
            <a:spAutoFit/>
          </a:bodyPr>
          <a:lstStyle/>
          <a:p>
            <a:pPr algn="l"/>
            <a:r>
              <a:rPr sz="1200" b="0">
                <a:solidFill>
                  <a:srgbClr val="4A5568"/>
                </a:solidFill>
                <a:latin typeface="Open Sans"/>
              </a:rPr>
              <a:t>Con 5 usuarios la espera llegó a 9.7 minutos, a 18 segundos del máximo permitido. El servidor hace unos 50 análisis por hora, vengan de 1 o de 5 usuarios.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Encontramos las causas y corregimos lo que se podía corregir</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DIAGNÓSTICO</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Resultado: el análisis del Excel con explicación de IA pasó de 0 de 9 completados a 9 de 9.</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9</a:t>
            </a:r>
          </a:p>
        </p:txBody>
      </p:sp>
      <p:sp>
        <p:nvSpPr>
          <p:cNvPr id="6" name="TextBox 5"/>
          <p:cNvSpPr txBox="1"/>
          <p:nvPr/>
        </p:nvSpPr>
        <p:spPr>
          <a:xfrm>
            <a:off x="813816" y="2103120"/>
            <a:ext cx="6400800" cy="274320"/>
          </a:xfrm>
          <a:prstGeom prst="rect">
            <a:avLst/>
          </a:prstGeom>
          <a:noFill/>
        </p:spPr>
        <p:txBody>
          <a:bodyPr wrap="square" anchor="t" lIns="0" rIns="0" tIns="0" bIns="0">
            <a:spAutoFit/>
          </a:bodyPr>
          <a:lstStyle/>
          <a:p>
            <a:pPr algn="l"/>
            <a:r>
              <a:rPr sz="1300" b="1">
                <a:solidFill>
                  <a:srgbClr val="365899"/>
                </a:solidFill>
                <a:latin typeface="Open Sans"/>
              </a:rPr>
              <a:t>Qué encontramos</a:t>
            </a:r>
          </a:p>
        </p:txBody>
      </p:sp>
      <p:sp>
        <p:nvSpPr>
          <p:cNvPr id="7" name="TextBox 6"/>
          <p:cNvSpPr txBox="1"/>
          <p:nvPr/>
        </p:nvSpPr>
        <p:spPr>
          <a:xfrm>
            <a:off x="6675120" y="2103120"/>
            <a:ext cx="4663440" cy="274320"/>
          </a:xfrm>
          <a:prstGeom prst="rect">
            <a:avLst/>
          </a:prstGeom>
          <a:noFill/>
        </p:spPr>
        <p:txBody>
          <a:bodyPr wrap="square" anchor="t" lIns="0" rIns="0" tIns="0" bIns="0">
            <a:spAutoFit/>
          </a:bodyPr>
          <a:lstStyle/>
          <a:p>
            <a:pPr algn="l"/>
            <a:r>
              <a:rPr sz="1300" b="1">
                <a:solidFill>
                  <a:srgbClr val="365899"/>
                </a:solidFill>
                <a:latin typeface="Open Sans"/>
              </a:rPr>
              <a:t>Qué hicimos</a:t>
            </a:r>
          </a:p>
        </p:txBody>
      </p:sp>
      <p:sp>
        <p:nvSpPr>
          <p:cNvPr id="8" name="Rounded Rectangle 7"/>
          <p:cNvSpPr/>
          <p:nvPr/>
        </p:nvSpPr>
        <p:spPr>
          <a:xfrm>
            <a:off x="813816" y="2423160"/>
            <a:ext cx="5669280" cy="585216"/>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423160"/>
            <a:ext cx="5394960" cy="585216"/>
          </a:xfrm>
          <a:prstGeom prst="rect">
            <a:avLst/>
          </a:prstGeom>
          <a:noFill/>
        </p:spPr>
        <p:txBody>
          <a:bodyPr wrap="square" anchor="ctr" lIns="0" rIns="0" tIns="0" bIns="0">
            <a:spAutoFit/>
          </a:bodyPr>
          <a:lstStyle/>
          <a:p>
            <a:pPr algn="l"/>
            <a:r>
              <a:rPr sz="1200" b="0">
                <a:solidFill>
                  <a:srgbClr val="0D1B3E"/>
                </a:solidFill>
                <a:latin typeface="Open Sans"/>
              </a:rPr>
              <a:t>La IA estaba recortada por la configuración y se pausaba casi todo el tiempo</a:t>
            </a:r>
          </a:p>
        </p:txBody>
      </p:sp>
      <p:sp>
        <p:nvSpPr>
          <p:cNvPr id="10" name="Right Arrow 9"/>
          <p:cNvSpPr/>
          <p:nvPr/>
        </p:nvSpPr>
        <p:spPr>
          <a:xfrm>
            <a:off x="6537960" y="2578608"/>
            <a:ext cx="274320" cy="27432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0" y="2423160"/>
            <a:ext cx="4517136" cy="585216"/>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2423160"/>
            <a:ext cx="4251960" cy="585216"/>
          </a:xfrm>
          <a:prstGeom prst="rect">
            <a:avLst/>
          </a:prstGeom>
          <a:noFill/>
        </p:spPr>
        <p:txBody>
          <a:bodyPr wrap="square" anchor="ctr" lIns="0" rIns="0" tIns="0" bIns="0">
            <a:spAutoFit/>
          </a:bodyPr>
          <a:lstStyle/>
          <a:p>
            <a:pPr algn="l"/>
            <a:r>
              <a:rPr sz="1200" b="0">
                <a:solidFill>
                  <a:srgbClr val="FFFFFF"/>
                </a:solidFill>
                <a:latin typeface="Open Sans"/>
              </a:rPr>
              <a:t>Se le asignaron los 20 procesadores</a:t>
            </a:r>
          </a:p>
        </p:txBody>
      </p:sp>
      <p:sp>
        <p:nvSpPr>
          <p:cNvPr id="13" name="Rounded Rectangle 12"/>
          <p:cNvSpPr/>
          <p:nvPr/>
        </p:nvSpPr>
        <p:spPr>
          <a:xfrm>
            <a:off x="813816" y="3081528"/>
            <a:ext cx="5669280" cy="585216"/>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081528"/>
            <a:ext cx="5394960" cy="585216"/>
          </a:xfrm>
          <a:prstGeom prst="rect">
            <a:avLst/>
          </a:prstGeom>
          <a:noFill/>
        </p:spPr>
        <p:txBody>
          <a:bodyPr wrap="square" anchor="ctr" lIns="0" rIns="0" tIns="0" bIns="0">
            <a:spAutoFit/>
          </a:bodyPr>
          <a:lstStyle/>
          <a:p>
            <a:pPr algn="l"/>
            <a:r>
              <a:rPr sz="1200" b="0">
                <a:solidFill>
                  <a:srgbClr val="0D1B3E"/>
                </a:solidFill>
                <a:latin typeface="Open Sans"/>
              </a:rPr>
              <a:t>Con más hilos de cálculo la IA iba más lenta (1.3 contra 2.3 por segundo)</a:t>
            </a:r>
          </a:p>
        </p:txBody>
      </p:sp>
      <p:sp>
        <p:nvSpPr>
          <p:cNvPr id="15" name="Right Arrow 14"/>
          <p:cNvSpPr/>
          <p:nvPr/>
        </p:nvSpPr>
        <p:spPr>
          <a:xfrm>
            <a:off x="6537960" y="3236976"/>
            <a:ext cx="274320" cy="27432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58000" y="3081528"/>
            <a:ext cx="4517136" cy="585216"/>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3081528"/>
            <a:ext cx="4251960" cy="585216"/>
          </a:xfrm>
          <a:prstGeom prst="rect">
            <a:avLst/>
          </a:prstGeom>
          <a:noFill/>
        </p:spPr>
        <p:txBody>
          <a:bodyPr wrap="square" anchor="ctr" lIns="0" rIns="0" tIns="0" bIns="0">
            <a:spAutoFit/>
          </a:bodyPr>
          <a:lstStyle/>
          <a:p>
            <a:pPr algn="l"/>
            <a:r>
              <a:rPr sz="1200" b="0">
                <a:solidFill>
                  <a:srgbClr val="FFFFFF"/>
                </a:solidFill>
                <a:latin typeface="Open Sans"/>
              </a:rPr>
              <a:t>Se fijó el número que da mejor velocidad</a:t>
            </a:r>
          </a:p>
        </p:txBody>
      </p:sp>
      <p:sp>
        <p:nvSpPr>
          <p:cNvPr id="18" name="Rounded Rectangle 17"/>
          <p:cNvSpPr/>
          <p:nvPr/>
        </p:nvSpPr>
        <p:spPr>
          <a:xfrm>
            <a:off x="813816" y="3739896"/>
            <a:ext cx="5669280" cy="585216"/>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9896"/>
            <a:ext cx="5394960" cy="585216"/>
          </a:xfrm>
          <a:prstGeom prst="rect">
            <a:avLst/>
          </a:prstGeom>
          <a:noFill/>
        </p:spPr>
        <p:txBody>
          <a:bodyPr wrap="square" anchor="ctr" lIns="0" rIns="0" tIns="0" bIns="0">
            <a:spAutoFit/>
          </a:bodyPr>
          <a:lstStyle/>
          <a:p>
            <a:pPr algn="l"/>
            <a:r>
              <a:rPr sz="1200" b="0">
                <a:solidFill>
                  <a:srgbClr val="0D1B3E"/>
                </a:solidFill>
                <a:latin typeface="Open Sans"/>
              </a:rPr>
              <a:t>Las instrucciones a la IA eran largas y sin tope de razonamiento</a:t>
            </a:r>
          </a:p>
        </p:txBody>
      </p:sp>
      <p:sp>
        <p:nvSpPr>
          <p:cNvPr id="20" name="Right Arrow 19"/>
          <p:cNvSpPr/>
          <p:nvPr/>
        </p:nvSpPr>
        <p:spPr>
          <a:xfrm>
            <a:off x="6537960" y="3895344"/>
            <a:ext cx="274320" cy="27432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0" y="3739896"/>
            <a:ext cx="4517136" cy="585216"/>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3739896"/>
            <a:ext cx="4251960" cy="585216"/>
          </a:xfrm>
          <a:prstGeom prst="rect">
            <a:avLst/>
          </a:prstGeom>
          <a:noFill/>
        </p:spPr>
        <p:txBody>
          <a:bodyPr wrap="square" anchor="ctr" lIns="0" rIns="0" tIns="0" bIns="0">
            <a:spAutoFit/>
          </a:bodyPr>
          <a:lstStyle/>
          <a:p>
            <a:pPr algn="l"/>
            <a:r>
              <a:rPr sz="1200" b="0">
                <a:solidFill>
                  <a:srgbClr val="FFFFFF"/>
                </a:solidFill>
                <a:latin typeface="Open Sans"/>
              </a:rPr>
              <a:t>Se acortaron y se limitó la extensión</a:t>
            </a:r>
          </a:p>
        </p:txBody>
      </p:sp>
      <p:sp>
        <p:nvSpPr>
          <p:cNvPr id="23" name="Rounded Rectangle 22"/>
          <p:cNvSpPr/>
          <p:nvPr/>
        </p:nvSpPr>
        <p:spPr>
          <a:xfrm>
            <a:off x="813816" y="4398264"/>
            <a:ext cx="5669280" cy="585216"/>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398264"/>
            <a:ext cx="5394960" cy="585216"/>
          </a:xfrm>
          <a:prstGeom prst="rect">
            <a:avLst/>
          </a:prstGeom>
          <a:noFill/>
        </p:spPr>
        <p:txBody>
          <a:bodyPr wrap="square" anchor="ctr" lIns="0" rIns="0" tIns="0" bIns="0">
            <a:spAutoFit/>
          </a:bodyPr>
          <a:lstStyle/>
          <a:p>
            <a:pPr algn="l"/>
            <a:r>
              <a:rPr sz="1200" b="0">
                <a:solidFill>
                  <a:srgbClr val="0D1B3E"/>
                </a:solidFill>
                <a:latin typeface="Open Sans"/>
              </a:rPr>
              <a:t>Si la IA tardaba, el análisis completo fallaba</a:t>
            </a:r>
          </a:p>
        </p:txBody>
      </p:sp>
      <p:sp>
        <p:nvSpPr>
          <p:cNvPr id="25" name="Right Arrow 24"/>
          <p:cNvSpPr/>
          <p:nvPr/>
        </p:nvSpPr>
        <p:spPr>
          <a:xfrm>
            <a:off x="6537960" y="4553712"/>
            <a:ext cx="274320" cy="27432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58000" y="4398264"/>
            <a:ext cx="4517136" cy="585216"/>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4398264"/>
            <a:ext cx="4251960" cy="585216"/>
          </a:xfrm>
          <a:prstGeom prst="rect">
            <a:avLst/>
          </a:prstGeom>
          <a:noFill/>
        </p:spPr>
        <p:txBody>
          <a:bodyPr wrap="square" anchor="ctr" lIns="0" rIns="0" tIns="0" bIns="0">
            <a:spAutoFit/>
          </a:bodyPr>
          <a:lstStyle/>
          <a:p>
            <a:pPr algn="l"/>
            <a:r>
              <a:rPr sz="1200" b="0">
                <a:solidFill>
                  <a:srgbClr val="FFFFFF"/>
                </a:solidFill>
                <a:latin typeface="Open Sans"/>
              </a:rPr>
              <a:t>Ahora se muestran los hallazgos exactos con un texto de respaldo</a:t>
            </a:r>
          </a:p>
        </p:txBody>
      </p:sp>
      <p:sp>
        <p:nvSpPr>
          <p:cNvPr id="28" name="Rounded Rectangle 27"/>
          <p:cNvSpPr/>
          <p:nvPr/>
        </p:nvSpPr>
        <p:spPr>
          <a:xfrm>
            <a:off x="813816" y="5056631"/>
            <a:ext cx="5669280" cy="585216"/>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056631"/>
            <a:ext cx="5394960" cy="585216"/>
          </a:xfrm>
          <a:prstGeom prst="rect">
            <a:avLst/>
          </a:prstGeom>
          <a:noFill/>
        </p:spPr>
        <p:txBody>
          <a:bodyPr wrap="square" anchor="ctr" lIns="0" rIns="0" tIns="0" bIns="0">
            <a:spAutoFit/>
          </a:bodyPr>
          <a:lstStyle/>
          <a:p>
            <a:pPr algn="l"/>
            <a:r>
              <a:rPr sz="1200" b="0">
                <a:solidFill>
                  <a:srgbClr val="0D1B3E"/>
                </a:solidFill>
                <a:latin typeface="Open Sans"/>
              </a:rPr>
              <a:t>El tiempo máximo de espera era fijo en 5 minutos, también en el chat</a:t>
            </a:r>
          </a:p>
        </p:txBody>
      </p:sp>
      <p:sp>
        <p:nvSpPr>
          <p:cNvPr id="30" name="Right Arrow 29"/>
          <p:cNvSpPr/>
          <p:nvPr/>
        </p:nvSpPr>
        <p:spPr>
          <a:xfrm>
            <a:off x="6537960" y="5212079"/>
            <a:ext cx="274320" cy="27432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0" y="5056631"/>
            <a:ext cx="4517136" cy="585216"/>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5056631"/>
            <a:ext cx="4251960" cy="585216"/>
          </a:xfrm>
          <a:prstGeom prst="rect">
            <a:avLst/>
          </a:prstGeom>
          <a:noFill/>
        </p:spPr>
        <p:txBody>
          <a:bodyPr wrap="square" anchor="ctr" lIns="0" rIns="0" tIns="0" bIns="0">
            <a:spAutoFit/>
          </a:bodyPr>
          <a:lstStyle/>
          <a:p>
            <a:pPr algn="l"/>
            <a:r>
              <a:rPr sz="1200" b="0">
                <a:solidFill>
                  <a:srgbClr val="FFFFFF"/>
                </a:solidFill>
                <a:latin typeface="Open Sans"/>
              </a:rPr>
              <a:t>Es configurable y quedó en 10 minutos</a:t>
            </a:r>
          </a:p>
        </p:txBody>
      </p:sp>
      <p:sp>
        <p:nvSpPr>
          <p:cNvPr id="33" name="TextBox 32"/>
          <p:cNvSpPr txBox="1"/>
          <p:nvPr/>
        </p:nvSpPr>
        <p:spPr>
          <a:xfrm>
            <a:off x="813816" y="5806440"/>
            <a:ext cx="10515600" cy="274320"/>
          </a:xfrm>
          <a:prstGeom prst="rect">
            <a:avLst/>
          </a:prstGeom>
          <a:noFill/>
        </p:spPr>
        <p:txBody>
          <a:bodyPr wrap="square" anchor="t" lIns="0" rIns="0" tIns="0" bIns="0">
            <a:spAutoFit/>
          </a:bodyPr>
          <a:lstStyle/>
          <a:p>
            <a:pPr algn="l"/>
            <a:r>
              <a:rPr sz="1300" b="1">
                <a:solidFill>
                  <a:srgbClr val="365899"/>
                </a:solidFill>
                <a:latin typeface="Open Sans"/>
              </a:rPr>
              <a:t>Aun con estos ajustes, el límite que queda es el equipo: la IA no tiene aceleración.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Cuatro caminos para ganar capacidad</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MEJORAS PROPUESTAS</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Costos y plazos por definir. Las mejoras esperadas se confirman con una prueba antes de decidir.</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10</a:t>
            </a:r>
          </a:p>
        </p:txBody>
      </p:sp>
      <p:sp>
        <p:nvSpPr>
          <p:cNvPr id="6" name="Rounded Rectangle 5"/>
          <p:cNvSpPr/>
          <p:nvPr/>
        </p:nvSpPr>
        <p:spPr>
          <a:xfrm>
            <a:off x="813816" y="2194560"/>
            <a:ext cx="2542032" cy="31546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286000"/>
            <a:ext cx="2286000" cy="548640"/>
          </a:xfrm>
          <a:prstGeom prst="rect">
            <a:avLst/>
          </a:prstGeom>
          <a:noFill/>
        </p:spPr>
        <p:txBody>
          <a:bodyPr wrap="square" anchor="t" lIns="0" rIns="0" tIns="0" bIns="0">
            <a:spAutoFit/>
          </a:bodyPr>
          <a:lstStyle/>
          <a:p>
            <a:pPr algn="l"/>
            <a:r>
              <a:rPr sz="1600" b="1">
                <a:solidFill>
                  <a:srgbClr val="0D1B3E"/>
                </a:solidFill>
                <a:latin typeface="Titillium Web"/>
              </a:rPr>
              <a:t>A · Mantener y ajustar</a:t>
            </a:r>
          </a:p>
        </p:txBody>
      </p:sp>
      <p:sp>
        <p:nvSpPr>
          <p:cNvPr id="8" name="TextBox 7"/>
          <p:cNvSpPr txBox="1"/>
          <p:nvPr/>
        </p:nvSpPr>
        <p:spPr>
          <a:xfrm>
            <a:off x="950976" y="2834640"/>
            <a:ext cx="2286000" cy="457200"/>
          </a:xfrm>
          <a:prstGeom prst="rect">
            <a:avLst/>
          </a:prstGeom>
          <a:noFill/>
        </p:spPr>
        <p:txBody>
          <a:bodyPr wrap="square" anchor="t" lIns="0" rIns="0" tIns="0" bIns="0">
            <a:spAutoFit/>
          </a:bodyPr>
          <a:lstStyle/>
          <a:p>
            <a:pPr algn="l"/>
            <a:r>
              <a:rPr sz="1100" b="1">
                <a:solidFill>
                  <a:srgbClr val="365899"/>
                </a:solidFill>
                <a:latin typeface="Open Sans"/>
              </a:rPr>
              <a:t>Ya aplicado</a:t>
            </a:r>
          </a:p>
        </p:txBody>
      </p:sp>
      <p:sp>
        <p:nvSpPr>
          <p:cNvPr id="9" name="TextBox 8"/>
          <p:cNvSpPr txBox="1"/>
          <p:nvPr/>
        </p:nvSpPr>
        <p:spPr>
          <a:xfrm>
            <a:off x="950976" y="3337560"/>
            <a:ext cx="2286000" cy="1920240"/>
          </a:xfrm>
          <a:prstGeom prst="rect">
            <a:avLst/>
          </a:prstGeom>
          <a:noFill/>
        </p:spPr>
        <p:txBody>
          <a:bodyPr wrap="square" anchor="t" lIns="0" rIns="0" tIns="0" bIns="0">
            <a:spAutoFit/>
          </a:bodyPr>
          <a:lstStyle/>
          <a:p>
            <a:pPr algn="l"/>
            <a:r>
              <a:rPr sz="1300" b="0">
                <a:solidFill>
                  <a:srgbClr val="4A5568"/>
                </a:solidFill>
                <a:latin typeface="Open Sans"/>
              </a:rPr>
              <a:t>La IA ya no falla, pero la espera sigue igual.</a:t>
            </a:r>
          </a:p>
          <a:p>
            <a:pPr algn="l">
              <a:spcBef>
                <a:spcPts val="500"/>
              </a:spcBef>
            </a:pPr>
            <a:r>
              <a:rPr sz="1300" b="0">
                <a:solidFill>
                  <a:srgbClr val="4A5568"/>
                </a:solidFill>
                <a:latin typeface="Open Sans"/>
              </a:rPr>
              <a:t>No alcanza para usuarios reales.</a:t>
            </a:r>
          </a:p>
        </p:txBody>
      </p:sp>
      <p:sp>
        <p:nvSpPr>
          <p:cNvPr id="10" name="Rounded Rectangle 9"/>
          <p:cNvSpPr/>
          <p:nvPr/>
        </p:nvSpPr>
        <p:spPr>
          <a:xfrm>
            <a:off x="3483864" y="2194560"/>
            <a:ext cx="2542032" cy="3154680"/>
          </a:xfrm>
          <a:prstGeom prst="roundRect">
            <a:avLst>
              <a:gd name="adj" fmla="val 6000"/>
            </a:avLst>
          </a:prstGeom>
          <a:solidFill>
            <a:srgbClr val="F5F7FB"/>
          </a:solidFill>
          <a:ln w="25400">
            <a:solidFill>
              <a:srgbClr val="FFCB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1024" y="2286000"/>
            <a:ext cx="2286000" cy="548640"/>
          </a:xfrm>
          <a:prstGeom prst="rect">
            <a:avLst/>
          </a:prstGeom>
          <a:noFill/>
        </p:spPr>
        <p:txBody>
          <a:bodyPr wrap="square" anchor="t" lIns="0" rIns="0" tIns="0" bIns="0">
            <a:spAutoFit/>
          </a:bodyPr>
          <a:lstStyle/>
          <a:p>
            <a:pPr algn="l"/>
            <a:r>
              <a:rPr sz="1600" b="1">
                <a:solidFill>
                  <a:srgbClr val="0D1B3E"/>
                </a:solidFill>
                <a:latin typeface="Titillium Web"/>
              </a:rPr>
              <a:t>B · Equipo con aceleración</a:t>
            </a:r>
          </a:p>
        </p:txBody>
      </p:sp>
      <p:sp>
        <p:nvSpPr>
          <p:cNvPr id="12" name="TextBox 11"/>
          <p:cNvSpPr txBox="1"/>
          <p:nvPr/>
        </p:nvSpPr>
        <p:spPr>
          <a:xfrm>
            <a:off x="3621024" y="2834640"/>
            <a:ext cx="2286000" cy="457200"/>
          </a:xfrm>
          <a:prstGeom prst="rect">
            <a:avLst/>
          </a:prstGeom>
          <a:noFill/>
        </p:spPr>
        <p:txBody>
          <a:bodyPr wrap="square" anchor="t" lIns="0" rIns="0" tIns="0" bIns="0">
            <a:spAutoFit/>
          </a:bodyPr>
          <a:lstStyle/>
          <a:p>
            <a:pPr algn="l"/>
            <a:r>
              <a:rPr sz="1100" b="1">
                <a:solidFill>
                  <a:srgbClr val="365899"/>
                </a:solidFill>
                <a:latin typeface="Open Sans"/>
              </a:rPr>
              <a:t>Tarjeta gráfica o procesador moderno</a:t>
            </a:r>
          </a:p>
        </p:txBody>
      </p:sp>
      <p:sp>
        <p:nvSpPr>
          <p:cNvPr id="13" name="TextBox 12"/>
          <p:cNvSpPr txBox="1"/>
          <p:nvPr/>
        </p:nvSpPr>
        <p:spPr>
          <a:xfrm>
            <a:off x="3621024" y="3337560"/>
            <a:ext cx="2286000" cy="1920240"/>
          </a:xfrm>
          <a:prstGeom prst="rect">
            <a:avLst/>
          </a:prstGeom>
          <a:noFill/>
        </p:spPr>
        <p:txBody>
          <a:bodyPr wrap="square" anchor="t" lIns="0" rIns="0" tIns="0" bIns="0">
            <a:spAutoFit/>
          </a:bodyPr>
          <a:lstStyle/>
          <a:p>
            <a:pPr algn="l"/>
            <a:r>
              <a:rPr sz="1300" b="0">
                <a:solidFill>
                  <a:srgbClr val="4A5568"/>
                </a:solidFill>
                <a:latin typeface="Open Sans"/>
              </a:rPr>
              <a:t>Es la mayor mejora esperada: de varias veces a un orden de magnitud (por confirmar).</a:t>
            </a:r>
          </a:p>
          <a:p>
            <a:pPr algn="l">
              <a:spcBef>
                <a:spcPts val="500"/>
              </a:spcBef>
            </a:pPr>
            <a:r>
              <a:rPr sz="1300" b="0">
                <a:solidFill>
                  <a:srgbClr val="4A5568"/>
                </a:solidFill>
                <a:latin typeface="Open Sans"/>
              </a:rPr>
              <a:t>Requiere un equipo; los datos deben seguir dentro de la red.</a:t>
            </a:r>
          </a:p>
        </p:txBody>
      </p:sp>
      <p:sp>
        <p:nvSpPr>
          <p:cNvPr id="14" name="Rounded Rectangle 13"/>
          <p:cNvSpPr/>
          <p:nvPr/>
        </p:nvSpPr>
        <p:spPr>
          <a:xfrm>
            <a:off x="6153912" y="2194560"/>
            <a:ext cx="2542032" cy="31546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2286000"/>
            <a:ext cx="2286000" cy="548640"/>
          </a:xfrm>
          <a:prstGeom prst="rect">
            <a:avLst/>
          </a:prstGeom>
          <a:noFill/>
        </p:spPr>
        <p:txBody>
          <a:bodyPr wrap="square" anchor="t" lIns="0" rIns="0" tIns="0" bIns="0">
            <a:spAutoFit/>
          </a:bodyPr>
          <a:lstStyle/>
          <a:p>
            <a:pPr algn="l"/>
            <a:r>
              <a:rPr sz="1600" b="1">
                <a:solidFill>
                  <a:srgbClr val="0D1B3E"/>
                </a:solidFill>
                <a:latin typeface="Titillium Web"/>
              </a:rPr>
              <a:t>C · Modelo de IA más pequeño</a:t>
            </a:r>
          </a:p>
        </p:txBody>
      </p:sp>
      <p:sp>
        <p:nvSpPr>
          <p:cNvPr id="16" name="TextBox 15"/>
          <p:cNvSpPr txBox="1"/>
          <p:nvPr/>
        </p:nvSpPr>
        <p:spPr>
          <a:xfrm>
            <a:off x="6291072" y="2834640"/>
            <a:ext cx="2286000" cy="457200"/>
          </a:xfrm>
          <a:prstGeom prst="rect">
            <a:avLst/>
          </a:prstGeom>
          <a:noFill/>
        </p:spPr>
        <p:txBody>
          <a:bodyPr wrap="square" anchor="t" lIns="0" rIns="0" tIns="0" bIns="0">
            <a:spAutoFit/>
          </a:bodyPr>
          <a:lstStyle/>
          <a:p>
            <a:pPr algn="l"/>
            <a:r>
              <a:rPr sz="1100" b="1">
                <a:solidFill>
                  <a:srgbClr val="365899"/>
                </a:solidFill>
                <a:latin typeface="Open Sans"/>
              </a:rPr>
              <a:t>Menor tamaño, más rápido</a:t>
            </a:r>
          </a:p>
        </p:txBody>
      </p:sp>
      <p:sp>
        <p:nvSpPr>
          <p:cNvPr id="17" name="TextBox 16"/>
          <p:cNvSpPr txBox="1"/>
          <p:nvPr/>
        </p:nvSpPr>
        <p:spPr>
          <a:xfrm>
            <a:off x="6291072" y="3337560"/>
            <a:ext cx="2286000" cy="1920240"/>
          </a:xfrm>
          <a:prstGeom prst="rect">
            <a:avLst/>
          </a:prstGeom>
          <a:noFill/>
        </p:spPr>
        <p:txBody>
          <a:bodyPr wrap="square" anchor="t" lIns="0" rIns="0" tIns="0" bIns="0">
            <a:spAutoFit/>
          </a:bodyPr>
          <a:lstStyle/>
          <a:p>
            <a:pPr algn="l"/>
            <a:r>
              <a:rPr sz="1300" b="0">
                <a:solidFill>
                  <a:srgbClr val="4A5568"/>
                </a:solidFill>
                <a:latin typeface="Open Sans"/>
              </a:rPr>
              <a:t>Responde más rápido y exige menos equipo.</a:t>
            </a:r>
          </a:p>
          <a:p>
            <a:pPr algn="l">
              <a:spcBef>
                <a:spcPts val="500"/>
              </a:spcBef>
            </a:pPr>
            <a:r>
              <a:rPr sz="1300" b="0">
                <a:solidFill>
                  <a:srgbClr val="4A5568"/>
                </a:solidFill>
                <a:latin typeface="Open Sans"/>
              </a:rPr>
              <a:t>Hay que validar la calidad en español contable.</a:t>
            </a:r>
          </a:p>
        </p:txBody>
      </p:sp>
      <p:sp>
        <p:nvSpPr>
          <p:cNvPr id="18" name="Rounded Rectangle 17"/>
          <p:cNvSpPr/>
          <p:nvPr/>
        </p:nvSpPr>
        <p:spPr>
          <a:xfrm>
            <a:off x="8823960" y="2194560"/>
            <a:ext cx="2542032" cy="315468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0" y="2286000"/>
            <a:ext cx="2286000" cy="548640"/>
          </a:xfrm>
          <a:prstGeom prst="rect">
            <a:avLst/>
          </a:prstGeom>
          <a:noFill/>
        </p:spPr>
        <p:txBody>
          <a:bodyPr wrap="square" anchor="t" lIns="0" rIns="0" tIns="0" bIns="0">
            <a:spAutoFit/>
          </a:bodyPr>
          <a:lstStyle/>
          <a:p>
            <a:pPr algn="l"/>
            <a:r>
              <a:rPr sz="1600" b="1">
                <a:solidFill>
                  <a:srgbClr val="0D1B3E"/>
                </a:solidFill>
                <a:latin typeface="Titillium Web"/>
              </a:rPr>
              <a:t>D · Usar menos la IA</a:t>
            </a:r>
          </a:p>
        </p:txBody>
      </p:sp>
      <p:sp>
        <p:nvSpPr>
          <p:cNvPr id="20" name="TextBox 19"/>
          <p:cNvSpPr txBox="1"/>
          <p:nvPr/>
        </p:nvSpPr>
        <p:spPr>
          <a:xfrm>
            <a:off x="8961120" y="2834640"/>
            <a:ext cx="2286000" cy="457200"/>
          </a:xfrm>
          <a:prstGeom prst="rect">
            <a:avLst/>
          </a:prstGeom>
          <a:noFill/>
        </p:spPr>
        <p:txBody>
          <a:bodyPr wrap="square" anchor="t" lIns="0" rIns="0" tIns="0" bIns="0">
            <a:spAutoFit/>
          </a:bodyPr>
          <a:lstStyle/>
          <a:p>
            <a:pPr algn="l"/>
            <a:r>
              <a:rPr sz="1100" b="1">
                <a:solidFill>
                  <a:srgbClr val="365899"/>
                </a:solidFill>
                <a:latin typeface="Open Sans"/>
              </a:rPr>
              <a:t>Respuestas con plantillas</a:t>
            </a:r>
          </a:p>
        </p:txBody>
      </p:sp>
      <p:sp>
        <p:nvSpPr>
          <p:cNvPr id="21" name="TextBox 20"/>
          <p:cNvSpPr txBox="1"/>
          <p:nvPr/>
        </p:nvSpPr>
        <p:spPr>
          <a:xfrm>
            <a:off x="8961120" y="3337560"/>
            <a:ext cx="2286000" cy="1920240"/>
          </a:xfrm>
          <a:prstGeom prst="rect">
            <a:avLst/>
          </a:prstGeom>
          <a:noFill/>
        </p:spPr>
        <p:txBody>
          <a:bodyPr wrap="square" anchor="t" lIns="0" rIns="0" tIns="0" bIns="0">
            <a:spAutoFit/>
          </a:bodyPr>
          <a:lstStyle/>
          <a:p>
            <a:pPr algn="l"/>
            <a:r>
              <a:rPr sz="1300" b="0">
                <a:solidFill>
                  <a:srgbClr val="4A5568"/>
                </a:solidFill>
                <a:latin typeface="Open Sans"/>
              </a:rPr>
              <a:t>Mejora la capacidad de inmediato.</a:t>
            </a:r>
          </a:p>
          <a:p>
            <a:pPr algn="l">
              <a:spcBef>
                <a:spcPts val="500"/>
              </a:spcBef>
            </a:pPr>
            <a:r>
              <a:rPr sz="1300" b="0">
                <a:solidFill>
                  <a:srgbClr val="4A5568"/>
                </a:solidFill>
                <a:latin typeface="Open Sans"/>
              </a:rPr>
              <a:t>Explicaciones menos detalladas en algunos casos.</a:t>
            </a:r>
          </a:p>
        </p:txBody>
      </p:sp>
      <p:sp>
        <p:nvSpPr>
          <p:cNvPr id="22" name="Rounded Rectangle 21"/>
          <p:cNvSpPr/>
          <p:nvPr/>
        </p:nvSpPr>
        <p:spPr>
          <a:xfrm>
            <a:off x="813816" y="5486400"/>
            <a:ext cx="10561320" cy="594360"/>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486400"/>
            <a:ext cx="10149840" cy="594360"/>
          </a:xfrm>
          <a:prstGeom prst="rect">
            <a:avLst/>
          </a:prstGeom>
          <a:noFill/>
        </p:spPr>
        <p:txBody>
          <a:bodyPr wrap="square" anchor="ctr" lIns="0" rIns="0" tIns="0" bIns="0">
            <a:spAutoFit/>
          </a:bodyPr>
          <a:lstStyle/>
          <a:p>
            <a:pPr algn="l"/>
            <a:r>
              <a:rPr sz="1300" b="1">
                <a:solidFill>
                  <a:srgbClr val="FFFFFF"/>
                </a:solidFill>
                <a:latin typeface="Open Sans"/>
              </a:rPr>
              <a:t>Recomendación: B como solución de fondo, D y prioridad al chat como alivio inmediato, y C como prueba comparativa.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Con un equipo más rápido, la espera baja y la capacidad se multiplica</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PROYECCIÓN</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Estimación, no medición: se divide el tiempo medido entre el factor de velocidad. Supone que la IA es el único límite. 10× es un orden de magnitud por confirmar con una prueba.</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11</a:t>
            </a:r>
          </a:p>
        </p:txBody>
      </p:sp>
      <p:sp>
        <p:nvSpPr>
          <p:cNvPr id="6" name="Rectangle 5"/>
          <p:cNvSpPr/>
          <p:nvPr/>
        </p:nvSpPr>
        <p:spPr>
          <a:xfrm>
            <a:off x="8906256" y="731520"/>
            <a:ext cx="2468880" cy="329184"/>
          </a:xfrm>
          <a:prstGeom prst="rect">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06256" y="731520"/>
            <a:ext cx="2468880" cy="329184"/>
          </a:xfrm>
          <a:prstGeom prst="rect">
            <a:avLst/>
          </a:prstGeom>
          <a:noFill/>
        </p:spPr>
        <p:txBody>
          <a:bodyPr wrap="square" anchor="ctr" lIns="0" rIns="0" tIns="0" bIns="0">
            <a:spAutoFit/>
          </a:bodyPr>
          <a:lstStyle/>
          <a:p>
            <a:pPr algn="ctr"/>
            <a:r>
              <a:rPr sz="1100" b="1">
                <a:solidFill>
                  <a:srgbClr val="0D1B3E"/>
                </a:solidFill>
                <a:latin typeface="Open Sans"/>
              </a:rPr>
              <a:t>ESTIMACIÓN · NO MEDIDA</a:t>
            </a:r>
          </a:p>
        </p:txBody>
      </p:sp>
      <p:sp>
        <p:nvSpPr>
          <p:cNvPr id="8" name="TextBox 7"/>
          <p:cNvSpPr txBox="1"/>
          <p:nvPr/>
        </p:nvSpPr>
        <p:spPr>
          <a:xfrm>
            <a:off x="813816" y="2103120"/>
            <a:ext cx="5852160" cy="274320"/>
          </a:xfrm>
          <a:prstGeom prst="rect">
            <a:avLst/>
          </a:prstGeom>
          <a:noFill/>
        </p:spPr>
        <p:txBody>
          <a:bodyPr wrap="square" anchor="t" lIns="0" rIns="0" tIns="0" bIns="0">
            <a:spAutoFit/>
          </a:bodyPr>
          <a:lstStyle/>
          <a:p>
            <a:pPr algn="l"/>
            <a:r>
              <a:rPr sz="1300" b="1">
                <a:solidFill>
                  <a:srgbClr val="0D1B3E"/>
                </a:solidFill>
                <a:latin typeface="Open Sans"/>
              </a:rPr>
              <a:t>Espera con 5 usuarios (segundos)</a:t>
            </a:r>
          </a:p>
        </p:txBody>
      </p:sp>
      <p:graphicFrame>
        <p:nvGraphicFramePr>
          <p:cNvPr id="9" name="Chart 8"/>
          <p:cNvGraphicFramePr>
            <a:graphicFrameLocks noGrp="1"/>
          </p:cNvGraphicFramePr>
          <p:nvPr/>
        </p:nvGraphicFramePr>
        <p:xfrm>
          <a:off x="813816" y="2423160"/>
          <a:ext cx="6035040" cy="3657600"/>
        </p:xfrm>
        <a:graphic>
          <a:graphicData uri="http://schemas.openxmlformats.org/drawingml/2006/chart">
            <c:chart xmlns:c="http://schemas.openxmlformats.org/drawingml/2006/chart" r:id="rId2"/>
          </a:graphicData>
        </a:graphic>
      </p:graphicFrame>
      <p:sp>
        <p:nvSpPr>
          <p:cNvPr id="10" name="TextBox 9"/>
          <p:cNvSpPr txBox="1"/>
          <p:nvPr/>
        </p:nvSpPr>
        <p:spPr>
          <a:xfrm>
            <a:off x="7178040" y="2103120"/>
            <a:ext cx="4206240" cy="274320"/>
          </a:xfrm>
          <a:prstGeom prst="rect">
            <a:avLst/>
          </a:prstGeom>
          <a:noFill/>
        </p:spPr>
        <p:txBody>
          <a:bodyPr wrap="square" anchor="t" lIns="0" rIns="0" tIns="0" bIns="0">
            <a:spAutoFit/>
          </a:bodyPr>
          <a:lstStyle/>
          <a:p>
            <a:pPr algn="l"/>
            <a:r>
              <a:rPr sz="1300" b="1">
                <a:solidFill>
                  <a:srgbClr val="0D1B3E"/>
                </a:solidFill>
                <a:latin typeface="Open Sans"/>
              </a:rPr>
              <a:t>Respuestas de IA por hora (total)</a:t>
            </a:r>
          </a:p>
        </p:txBody>
      </p:sp>
      <p:graphicFrame>
        <p:nvGraphicFramePr>
          <p:cNvPr id="11" name="Chart 10"/>
          <p:cNvGraphicFramePr>
            <a:graphicFrameLocks noGrp="1"/>
          </p:cNvGraphicFramePr>
          <p:nvPr/>
        </p:nvGraphicFramePr>
        <p:xfrm>
          <a:off x="7178040" y="2423160"/>
          <a:ext cx="4197096" cy="3657600"/>
        </p:xfrm>
        <a:graphic>
          <a:graphicData uri="http://schemas.openxmlformats.org/drawingml/2006/chart">
            <c:chart xmlns:c="http://schemas.openxmlformats.org/drawingml/2006/chart" r:id="rId3"/>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0D1B3E"/>
                </a:solidFill>
                <a:latin typeface="Titillium Web"/>
              </a:rPr>
              <a:t>Medir primero, decidir después, abrir la versión de pruebas</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365899"/>
                </a:solidFill>
                <a:latin typeface="Open Sans"/>
              </a:rPr>
              <a:t>PLAN PROPUESTO</a:t>
            </a:r>
          </a:p>
        </p:txBody>
      </p:sp>
      <p:sp>
        <p:nvSpPr>
          <p:cNvPr id="4" name="TextBox 3"/>
          <p:cNvSpPr txBox="1"/>
          <p:nvPr/>
        </p:nvSpPr>
        <p:spPr>
          <a:xfrm>
            <a:off x="813816" y="6236208"/>
            <a:ext cx="9601200" cy="365760"/>
          </a:xfrm>
          <a:prstGeom prst="rect">
            <a:avLst/>
          </a:prstGeom>
          <a:noFill/>
        </p:spPr>
        <p:txBody>
          <a:bodyPr wrap="square" anchor="t" lIns="0" rIns="0" tIns="0" bIns="0">
            <a:spAutoFit/>
          </a:bodyPr>
          <a:lstStyle/>
          <a:p>
            <a:pPr algn="l"/>
            <a:r>
              <a:rPr sz="1100" b="0">
                <a:solidFill>
                  <a:srgbClr val="69727D"/>
                </a:solidFill>
                <a:latin typeface="Open Sans"/>
              </a:rPr>
              <a:t>Duración y costos por definir con el responsable del proyecto y TI.</a:t>
            </a:r>
          </a:p>
        </p:txBody>
      </p:sp>
      <p:sp>
        <p:nvSpPr>
          <p:cNvPr id="5" name="TextBox 4"/>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69727D"/>
                </a:solidFill>
                <a:latin typeface="Open Sans"/>
              </a:rPr>
              <a:t>12</a:t>
            </a:r>
          </a:p>
        </p:txBody>
      </p:sp>
      <p:sp>
        <p:nvSpPr>
          <p:cNvPr id="6" name="Rounded Rectangle 5"/>
          <p:cNvSpPr/>
          <p:nvPr/>
        </p:nvSpPr>
        <p:spPr>
          <a:xfrm>
            <a:off x="813816" y="2240280"/>
            <a:ext cx="3291840" cy="365760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331720"/>
            <a:ext cx="3017520" cy="365760"/>
          </a:xfrm>
          <a:prstGeom prst="rect">
            <a:avLst/>
          </a:prstGeom>
          <a:noFill/>
        </p:spPr>
        <p:txBody>
          <a:bodyPr wrap="square" anchor="t" lIns="0" rIns="0" tIns="0" bIns="0">
            <a:spAutoFit/>
          </a:bodyPr>
          <a:lstStyle/>
          <a:p>
            <a:pPr algn="l"/>
            <a:r>
              <a:rPr sz="1800" b="1">
                <a:solidFill>
                  <a:srgbClr val="0D1B3E"/>
                </a:solidFill>
                <a:latin typeface="Titillium Web"/>
              </a:rPr>
              <a:t>1 · Ahora</a:t>
            </a:r>
          </a:p>
        </p:txBody>
      </p:sp>
      <p:sp>
        <p:nvSpPr>
          <p:cNvPr id="8" name="TextBox 7"/>
          <p:cNvSpPr txBox="1"/>
          <p:nvPr/>
        </p:nvSpPr>
        <p:spPr>
          <a:xfrm>
            <a:off x="950976" y="2686050"/>
            <a:ext cx="3017520" cy="3108960"/>
          </a:xfrm>
          <a:prstGeom prst="rect">
            <a:avLst/>
          </a:prstGeom>
          <a:noFill/>
        </p:spPr>
        <p:txBody>
          <a:bodyPr wrap="square" anchor="t" lIns="0" rIns="0" tIns="0" bIns="0">
            <a:spAutoFit/>
          </a:bodyPr>
          <a:lstStyle/>
          <a:p>
            <a:pPr algn="l"/>
            <a:r>
              <a:rPr sz="1600" b="0">
                <a:solidFill>
                  <a:srgbClr val="4A5568"/>
                </a:solidFill>
                <a:latin typeface="Open Sans"/>
              </a:rPr>
              <a:t>Dar prioridad al chat sobre los análisis largos.</a:t>
            </a:r>
          </a:p>
          <a:p>
            <a:pPr algn="l">
              <a:spcBef>
                <a:spcPts val="300"/>
              </a:spcBef>
            </a:pPr>
            <a:r>
              <a:rPr sz="1600" b="0">
                <a:solidFill>
                  <a:srgbClr val="4A5568"/>
                </a:solidFill>
                <a:latin typeface="Open Sans"/>
              </a:rPr>
              <a:t>Limitar los usuarios simultáneos mientras tanto.</a:t>
            </a:r>
          </a:p>
          <a:p>
            <a:pPr algn="l">
              <a:spcBef>
                <a:spcPts val="300"/>
              </a:spcBef>
            </a:pPr>
            <a:r>
              <a:rPr sz="1600" b="0">
                <a:solidFill>
                  <a:srgbClr val="4A5568"/>
                </a:solidFill>
                <a:latin typeface="Open Sans"/>
              </a:rPr>
              <a:t>Volver a indexar los documentos grandes con el método nuevo.</a:t>
            </a:r>
          </a:p>
        </p:txBody>
      </p:sp>
      <p:sp>
        <p:nvSpPr>
          <p:cNvPr id="9" name="Right Arrow 8"/>
          <p:cNvSpPr/>
          <p:nvPr/>
        </p:nvSpPr>
        <p:spPr>
          <a:xfrm>
            <a:off x="4142232" y="3931920"/>
            <a:ext cx="274320" cy="36576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53128" y="2240280"/>
            <a:ext cx="3291840" cy="3657600"/>
          </a:xfrm>
          <a:prstGeom prst="roundRect">
            <a:avLst>
              <a:gd name="adj" fmla="val 6000"/>
            </a:avLst>
          </a:prstGeom>
          <a:solidFill>
            <a:srgbClr val="002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331720"/>
            <a:ext cx="3017520" cy="365760"/>
          </a:xfrm>
          <a:prstGeom prst="rect">
            <a:avLst/>
          </a:prstGeom>
          <a:noFill/>
        </p:spPr>
        <p:txBody>
          <a:bodyPr wrap="square" anchor="t" lIns="0" rIns="0" tIns="0" bIns="0">
            <a:spAutoFit/>
          </a:bodyPr>
          <a:lstStyle/>
          <a:p>
            <a:pPr algn="l"/>
            <a:r>
              <a:rPr sz="1800" b="1">
                <a:solidFill>
                  <a:srgbClr val="FFCB27"/>
                </a:solidFill>
                <a:latin typeface="Titillium Web"/>
              </a:rPr>
              <a:t>2 · Medir</a:t>
            </a:r>
          </a:p>
        </p:txBody>
      </p:sp>
      <p:sp>
        <p:nvSpPr>
          <p:cNvPr id="12" name="TextBox 11"/>
          <p:cNvSpPr txBox="1"/>
          <p:nvPr/>
        </p:nvSpPr>
        <p:spPr>
          <a:xfrm>
            <a:off x="4590288" y="2686050"/>
            <a:ext cx="3017520" cy="3108960"/>
          </a:xfrm>
          <a:prstGeom prst="rect">
            <a:avLst/>
          </a:prstGeom>
          <a:noFill/>
        </p:spPr>
        <p:txBody>
          <a:bodyPr wrap="square" anchor="t" lIns="0" rIns="0" tIns="0" bIns="0">
            <a:spAutoFit/>
          </a:bodyPr>
          <a:lstStyle/>
          <a:p>
            <a:pPr algn="l"/>
            <a:r>
              <a:rPr sz="1600" b="0">
                <a:solidFill>
                  <a:srgbClr val="FFFFFF"/>
                </a:solidFill>
                <a:latin typeface="Open Sans"/>
              </a:rPr>
              <a:t>Probar el motor de IA en un equipo moderno con las mismas pruebas.</a:t>
            </a:r>
          </a:p>
          <a:p>
            <a:pPr algn="l">
              <a:spcBef>
                <a:spcPts val="300"/>
              </a:spcBef>
            </a:pPr>
            <a:r>
              <a:rPr sz="1600" b="0">
                <a:solidFill>
                  <a:srgbClr val="FFFFFF"/>
                </a:solidFill>
                <a:latin typeface="Open Sans"/>
              </a:rPr>
              <a:t>Comparar un modelo de IA más pequeño con los mismos documentos.</a:t>
            </a:r>
          </a:p>
          <a:p>
            <a:pPr algn="l">
              <a:spcBef>
                <a:spcPts val="300"/>
              </a:spcBef>
            </a:pPr>
            <a:r>
              <a:rPr sz="1600" b="0">
                <a:solidFill>
                  <a:srgbClr val="FFFFFF"/>
                </a:solidFill>
                <a:latin typeface="Open Sans"/>
              </a:rPr>
              <a:t>Confirmar la proyección con datos.</a:t>
            </a:r>
          </a:p>
        </p:txBody>
      </p:sp>
      <p:sp>
        <p:nvSpPr>
          <p:cNvPr id="13" name="Right Arrow 12"/>
          <p:cNvSpPr/>
          <p:nvPr/>
        </p:nvSpPr>
        <p:spPr>
          <a:xfrm>
            <a:off x="7781544" y="3931920"/>
            <a:ext cx="274320" cy="365760"/>
          </a:xfrm>
          <a:prstGeom prst="rightArrow">
            <a:avLst/>
          </a:prstGeom>
          <a:solidFill>
            <a:srgbClr val="FFC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2240280"/>
            <a:ext cx="3291840" cy="365760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331720"/>
            <a:ext cx="3017520" cy="365760"/>
          </a:xfrm>
          <a:prstGeom prst="rect">
            <a:avLst/>
          </a:prstGeom>
          <a:noFill/>
        </p:spPr>
        <p:txBody>
          <a:bodyPr wrap="square" anchor="t" lIns="0" rIns="0" tIns="0" bIns="0">
            <a:spAutoFit/>
          </a:bodyPr>
          <a:lstStyle/>
          <a:p>
            <a:pPr algn="l"/>
            <a:r>
              <a:rPr sz="1800" b="1">
                <a:solidFill>
                  <a:srgbClr val="0D1B3E"/>
                </a:solidFill>
                <a:latin typeface="Titillium Web"/>
              </a:rPr>
              <a:t>3 · Decidir y abrir</a:t>
            </a:r>
          </a:p>
        </p:txBody>
      </p:sp>
      <p:sp>
        <p:nvSpPr>
          <p:cNvPr id="16" name="TextBox 15"/>
          <p:cNvSpPr txBox="1"/>
          <p:nvPr/>
        </p:nvSpPr>
        <p:spPr>
          <a:xfrm>
            <a:off x="8229600" y="2686050"/>
            <a:ext cx="3017520" cy="3108960"/>
          </a:xfrm>
          <a:prstGeom prst="rect">
            <a:avLst/>
          </a:prstGeom>
          <a:noFill/>
        </p:spPr>
        <p:txBody>
          <a:bodyPr wrap="square" anchor="t" lIns="0" rIns="0" tIns="0" bIns="0">
            <a:spAutoFit/>
          </a:bodyPr>
          <a:lstStyle/>
          <a:p>
            <a:pPr algn="l"/>
            <a:r>
              <a:rPr sz="1600" b="0">
                <a:solidFill>
                  <a:srgbClr val="4A5568"/>
                </a:solidFill>
                <a:latin typeface="Open Sans"/>
              </a:rPr>
              <a:t>Dimensionar el equipo según lo medido.</a:t>
            </a:r>
          </a:p>
          <a:p>
            <a:pPr algn="l">
              <a:spcBef>
                <a:spcPts val="300"/>
              </a:spcBef>
            </a:pPr>
            <a:r>
              <a:rPr sz="1600" b="0">
                <a:solidFill>
                  <a:srgbClr val="4A5568"/>
                </a:solidFill>
                <a:latin typeface="Open Sans"/>
              </a:rPr>
              <a:t>Definir dónde corre la IA, dentro de la red interna.</a:t>
            </a:r>
          </a:p>
          <a:p>
            <a:pPr algn="l">
              <a:spcBef>
                <a:spcPts val="300"/>
              </a:spcBef>
            </a:pPr>
            <a:r>
              <a:rPr sz="1600" b="0">
                <a:solidFill>
                  <a:srgbClr val="4A5568"/>
                </a:solidFill>
                <a:latin typeface="Open Sans"/>
              </a:rPr>
              <a:t>Abrir la versión de pruebas con usuarios reales.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1A45"/>
        </a:solidFill>
        <a:effectLst/>
      </p:bgPr>
    </p:bg>
    <p:spTree>
      <p:nvGrpSpPr>
        <p:cNvPr id="1" name=""/>
        <p:cNvGrpSpPr/>
        <p:nvPr/>
      </p:nvGrpSpPr>
      <p:grpSpPr/>
      <p:sp>
        <p:nvSpPr>
          <p:cNvPr id="2" name="Title 1"/>
          <p:cNvSpPr>
            <a:spLocks noGrp="1"/>
          </p:cNvSpPr>
          <p:nvPr>
            <p:ph type="title"/>
          </p:nvPr>
        </p:nvSpPr>
        <p:spPr>
          <a:xfrm>
            <a:off x="813816" y="1106424"/>
            <a:ext cx="10881360" cy="914400"/>
          </a:xfrm>
        </p:spPr>
        <p:txBody>
          <a:bodyPr wrap="square"/>
          <a:lstStyle/>
          <a:p>
            <a:r>
              <a:rPr sz="2800" b="1">
                <a:solidFill>
                  <a:srgbClr val="FFFFFF"/>
                </a:solidFill>
                <a:latin typeface="Titillium Web"/>
              </a:rPr>
              <a:t>Qué concluimos y qué pedimos</a:t>
            </a:r>
          </a:p>
        </p:txBody>
      </p:sp>
      <p:sp>
        <p:nvSpPr>
          <p:cNvPr id="3" name="TextBox 2"/>
          <p:cNvSpPr txBox="1"/>
          <p:nvPr/>
        </p:nvSpPr>
        <p:spPr>
          <a:xfrm>
            <a:off x="813816" y="813816"/>
            <a:ext cx="8046720" cy="237744"/>
          </a:xfrm>
          <a:prstGeom prst="rect">
            <a:avLst/>
          </a:prstGeom>
          <a:noFill/>
        </p:spPr>
        <p:txBody>
          <a:bodyPr wrap="square" anchor="t" lIns="0" rIns="0" tIns="0" bIns="0">
            <a:spAutoFit/>
          </a:bodyPr>
          <a:lstStyle/>
          <a:p>
            <a:pPr algn="l"/>
            <a:r>
              <a:rPr sz="1200" b="1">
                <a:solidFill>
                  <a:srgbClr val="FFCB27"/>
                </a:solidFill>
                <a:latin typeface="Open Sans"/>
              </a:rPr>
              <a:t>CONCLUSIONES</a:t>
            </a:r>
          </a:p>
        </p:txBody>
      </p:sp>
      <p:sp>
        <p:nvSpPr>
          <p:cNvPr id="4" name="TextBox 3"/>
          <p:cNvSpPr txBox="1"/>
          <p:nvPr/>
        </p:nvSpPr>
        <p:spPr>
          <a:xfrm>
            <a:off x="10689336" y="6236208"/>
            <a:ext cx="685800" cy="237744"/>
          </a:xfrm>
          <a:prstGeom prst="rect">
            <a:avLst/>
          </a:prstGeom>
          <a:noFill/>
        </p:spPr>
        <p:txBody>
          <a:bodyPr wrap="square" anchor="t" lIns="0" rIns="0" tIns="0" bIns="0">
            <a:spAutoFit/>
          </a:bodyPr>
          <a:lstStyle/>
          <a:p>
            <a:pPr algn="r"/>
            <a:r>
              <a:rPr sz="1200" b="0">
                <a:solidFill>
                  <a:srgbClr val="9DB3DA"/>
                </a:solidFill>
                <a:latin typeface="Open Sans"/>
              </a:rPr>
              <a:t>13</a:t>
            </a:r>
          </a:p>
        </p:txBody>
      </p:sp>
      <p:sp>
        <p:nvSpPr>
          <p:cNvPr id="5" name="TextBox 4"/>
          <p:cNvSpPr txBox="1"/>
          <p:nvPr/>
        </p:nvSpPr>
        <p:spPr>
          <a:xfrm>
            <a:off x="813816" y="2194560"/>
            <a:ext cx="5486400" cy="365760"/>
          </a:xfrm>
          <a:prstGeom prst="rect">
            <a:avLst/>
          </a:prstGeom>
          <a:noFill/>
        </p:spPr>
        <p:txBody>
          <a:bodyPr wrap="square" anchor="t" lIns="0" rIns="0" tIns="0" bIns="0">
            <a:spAutoFit/>
          </a:bodyPr>
          <a:lstStyle/>
          <a:p>
            <a:pPr algn="l"/>
            <a:r>
              <a:rPr sz="2000" b="1">
                <a:solidFill>
                  <a:srgbClr val="FFCB27"/>
                </a:solidFill>
                <a:latin typeface="Titillium Web"/>
              </a:rPr>
              <a:t>Conclusiones</a:t>
            </a:r>
          </a:p>
        </p:txBody>
      </p:sp>
      <p:sp>
        <p:nvSpPr>
          <p:cNvPr id="6" name="TextBox 5"/>
          <p:cNvSpPr txBox="1"/>
          <p:nvPr/>
        </p:nvSpPr>
        <p:spPr>
          <a:xfrm>
            <a:off x="813816" y="2697480"/>
            <a:ext cx="5303520" cy="3291840"/>
          </a:xfrm>
          <a:prstGeom prst="rect">
            <a:avLst/>
          </a:prstGeom>
          <a:noFill/>
        </p:spPr>
        <p:txBody>
          <a:bodyPr wrap="square" anchor="t" lIns="0" rIns="0" tIns="0" bIns="0">
            <a:spAutoFit/>
          </a:bodyPr>
          <a:lstStyle/>
          <a:p>
            <a:pPr algn="l"/>
            <a:r>
              <a:rPr sz="1800" b="0">
                <a:solidFill>
                  <a:srgbClr val="FFFFFF"/>
                </a:solidFill>
                <a:latin typeface="Open Sans"/>
              </a:rPr>
              <a:t>La aplicación y las reglas funcionan; la IA es el límite.</a:t>
            </a:r>
          </a:p>
          <a:p>
            <a:pPr algn="l">
              <a:spcBef>
                <a:spcPts val="1200"/>
              </a:spcBef>
            </a:pPr>
            <a:r>
              <a:rPr sz="1800" b="0">
                <a:solidFill>
                  <a:srgbClr val="FFFFFF"/>
                </a:solidFill>
                <a:latin typeface="Open Sans"/>
              </a:rPr>
              <a:t>El servidor actual no sostiene una versión de pruebas con usuarios reales.</a:t>
            </a:r>
          </a:p>
          <a:p>
            <a:pPr algn="l">
              <a:spcBef>
                <a:spcPts val="1200"/>
              </a:spcBef>
            </a:pPr>
            <a:r>
              <a:rPr sz="1800" b="0">
                <a:solidFill>
                  <a:srgbClr val="FFFFFF"/>
                </a:solidFill>
                <a:latin typeface="Open Sans"/>
              </a:rPr>
              <a:t>Los ajustes de configuración ya se agotaron.</a:t>
            </a:r>
          </a:p>
          <a:p>
            <a:pPr algn="l">
              <a:spcBef>
                <a:spcPts val="1200"/>
              </a:spcBef>
            </a:pPr>
            <a:r>
              <a:rPr sz="1800" b="0">
                <a:solidFill>
                  <a:srgbClr val="FFFFFF"/>
                </a:solidFill>
                <a:latin typeface="Open Sans"/>
              </a:rPr>
              <a:t>La mejora de fondo es un equipo con aceleración para la IA.</a:t>
            </a:r>
          </a:p>
        </p:txBody>
      </p:sp>
      <p:sp>
        <p:nvSpPr>
          <p:cNvPr id="7" name="Rounded Rectangle 6"/>
          <p:cNvSpPr/>
          <p:nvPr/>
        </p:nvSpPr>
        <p:spPr>
          <a:xfrm>
            <a:off x="6583680" y="2194560"/>
            <a:ext cx="4791456" cy="3749039"/>
          </a:xfrm>
          <a:prstGeom prst="roundRect">
            <a:avLst>
              <a:gd name="adj" fmla="val 6000"/>
            </a:avLst>
          </a:prstGeom>
          <a:solidFill>
            <a:srgbClr val="0B3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2331720"/>
            <a:ext cx="4297680" cy="365760"/>
          </a:xfrm>
          <a:prstGeom prst="rect">
            <a:avLst/>
          </a:prstGeom>
          <a:noFill/>
        </p:spPr>
        <p:txBody>
          <a:bodyPr wrap="square" anchor="t" lIns="0" rIns="0" tIns="0" bIns="0">
            <a:spAutoFit/>
          </a:bodyPr>
          <a:lstStyle/>
          <a:p>
            <a:pPr algn="l"/>
            <a:r>
              <a:rPr sz="2000" b="1">
                <a:solidFill>
                  <a:srgbClr val="FFCB27"/>
                </a:solidFill>
                <a:latin typeface="Titillium Web"/>
              </a:rPr>
              <a:t>Decisiones que solicitamos</a:t>
            </a:r>
          </a:p>
        </p:txBody>
      </p:sp>
      <p:sp>
        <p:nvSpPr>
          <p:cNvPr id="9" name="TextBox 8"/>
          <p:cNvSpPr txBox="1"/>
          <p:nvPr/>
        </p:nvSpPr>
        <p:spPr>
          <a:xfrm>
            <a:off x="6858000" y="2880360"/>
            <a:ext cx="4297680" cy="2926080"/>
          </a:xfrm>
          <a:prstGeom prst="rect">
            <a:avLst/>
          </a:prstGeom>
          <a:noFill/>
        </p:spPr>
        <p:txBody>
          <a:bodyPr wrap="square" anchor="t" lIns="0" rIns="0" tIns="0" bIns="0">
            <a:spAutoFit/>
          </a:bodyPr>
          <a:lstStyle/>
          <a:p>
            <a:pPr algn="l"/>
            <a:r>
              <a:rPr sz="1600" b="0">
                <a:solidFill>
                  <a:srgbClr val="FFFFFF"/>
                </a:solidFill>
                <a:latin typeface="Open Sans"/>
              </a:rPr>
              <a:t>Autorizar la prueba del motor de IA en un equipo moderno.</a:t>
            </a:r>
          </a:p>
          <a:p>
            <a:pPr algn="l">
              <a:spcBef>
                <a:spcPts val="1000"/>
              </a:spcBef>
            </a:pPr>
            <a:r>
              <a:rPr sz="1600" b="0">
                <a:solidFill>
                  <a:srgbClr val="FFFFFF"/>
                </a:solidFill>
                <a:latin typeface="Open Sans"/>
              </a:rPr>
              <a:t>Aprobar la prueba de un modelo de IA más pequeño.</a:t>
            </a:r>
          </a:p>
          <a:p>
            <a:pPr algn="l">
              <a:spcBef>
                <a:spcPts val="1000"/>
              </a:spcBef>
            </a:pPr>
            <a:r>
              <a:rPr sz="1600" b="0">
                <a:solidFill>
                  <a:srgbClr val="FFFFFF"/>
                </a:solidFill>
                <a:latin typeface="Open Sans"/>
              </a:rPr>
              <a:t>Definir el presupuesto y el plazo del equipo de producción.</a:t>
            </a:r>
          </a:p>
          <a:p>
            <a:pPr algn="l">
              <a:spcBef>
                <a:spcPts val="1000"/>
              </a:spcBef>
            </a:pPr>
            <a:r>
              <a:rPr sz="1600" b="0">
                <a:solidFill>
                  <a:srgbClr val="FFFFFF"/>
                </a:solidFill>
                <a:latin typeface="Open Sans"/>
              </a:rPr>
              <a:t>Aprobar el plan de uso limitado mientras tanto.</a:t>
            </a:r>
          </a:p>
        </p:txBody>
      </p:sp>
    </p:spTree>
  </p:cSld>
  <p:clrMapOvr>
    <a:masterClrMapping/>
  </p:clrMapOvr>
</p:sld>
</file>

<file path=ppt/theme/theme1.xml><?xml version="1.0" encoding="utf-8"?>
<a:theme xmlns:a="http://schemas.openxmlformats.org/drawingml/2006/main" name="Agente Administrativo">
  <a:themeElements>
    <a:clrScheme name="Agente Administrativo">
      <a:dk1>
        <a:srgbClr val="0D1B3E"/>
      </a:dk1>
      <a:lt1>
        <a:srgbClr val="FFFFFF"/>
      </a:lt1>
      <a:dk2>
        <a:srgbClr val="4A546E"/>
      </a:dk2>
      <a:lt2>
        <a:srgbClr val="E7E8EC"/>
      </a:lt2>
      <a:accent1>
        <a:srgbClr val="002A6D"/>
      </a:accent1>
      <a:accent2>
        <a:srgbClr val="FFCB27"/>
      </a:accent2>
      <a:accent3>
        <a:srgbClr val="0B3478"/>
      </a:accent3>
      <a:accent4>
        <a:srgbClr val="365899"/>
      </a:accent4>
      <a:accent5>
        <a:srgbClr val="9DB3DA"/>
      </a:accent5>
      <a:accent6>
        <a:srgbClr val="0A3C8C"/>
      </a:accent6>
      <a:hlink>
        <a:srgbClr val="0563C1"/>
      </a:hlink>
      <a:folHlink>
        <a:srgbClr val="954F72"/>
      </a:folHlink>
    </a:clrScheme>
    <a:fontScheme name="Agente Administrativo">
      <a:majorFont>
        <a:latin typeface="Titillium Web"/>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Administrativo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Open Sans
Copyright 2020 The Open Sans Project Authors (https://github.com/googlefonts/opensans)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Titillium Web
Copyright (c) 2009-2011 by Accademia di Belle Arti di Urbino and students of MA course of Visual design. Some rights reserved.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2026-10-21T04:59:11Z</dcterms:created>
  <dcterms:modified xsi:type="dcterms:W3CDTF">2026-10-21T04:59:11Z</dcterms:modified>
</cp:coreProperties>
</file>